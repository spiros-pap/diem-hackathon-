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4"/>
  </p:notesMasterIdLst>
  <p:sldIdLst>
    <p:sldId id="256" r:id="rId2"/>
    <p:sldId id="257" r:id="rId3"/>
    <p:sldId id="262" r:id="rId4"/>
    <p:sldId id="286" r:id="rId5"/>
    <p:sldId id="287" r:id="rId6"/>
    <p:sldId id="288" r:id="rId7"/>
    <p:sldId id="289" r:id="rId8"/>
    <p:sldId id="290" r:id="rId9"/>
    <p:sldId id="291" r:id="rId10"/>
    <p:sldId id="264" r:id="rId11"/>
    <p:sldId id="265" r:id="rId12"/>
    <p:sldId id="293" r:id="rId13"/>
    <p:sldId id="266" r:id="rId14"/>
    <p:sldId id="295" r:id="rId15"/>
    <p:sldId id="267" r:id="rId16"/>
    <p:sldId id="296" r:id="rId17"/>
    <p:sldId id="268" r:id="rId18"/>
    <p:sldId id="269" r:id="rId19"/>
    <p:sldId id="270" r:id="rId20"/>
    <p:sldId id="297" r:id="rId21"/>
    <p:sldId id="272" r:id="rId22"/>
    <p:sldId id="273" r:id="rId23"/>
    <p:sldId id="274" r:id="rId24"/>
    <p:sldId id="298" r:id="rId25"/>
    <p:sldId id="300" r:id="rId26"/>
    <p:sldId id="299" r:id="rId27"/>
    <p:sldId id="301" r:id="rId28"/>
    <p:sldId id="302" r:id="rId29"/>
    <p:sldId id="303" r:id="rId30"/>
    <p:sldId id="276" r:id="rId31"/>
    <p:sldId id="277" r:id="rId32"/>
    <p:sldId id="285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916F"/>
    <a:srgbClr val="F266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4237" autoAdjust="0"/>
  </p:normalViewPr>
  <p:slideViewPr>
    <p:cSldViewPr snapToGrid="0" snapToObjects="1">
      <p:cViewPr varScale="1">
        <p:scale>
          <a:sx n="61" d="100"/>
          <a:sy n="61" d="100"/>
        </p:scale>
        <p:origin x="207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EEBB02-7B90-450D-8406-54714623C676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07C8B5-1B29-464A-A723-C823BEC7F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434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blockchain functions as a shared database maintained by a decentralized network of nodes. Highlight the concepts of immutability, consensus, and transparency.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600" dirty="0"/>
              <a:t>The Remix browser-based IDE is a great way to start your Ethereum development projects. </a:t>
            </a:r>
          </a:p>
          <a:p>
            <a:endParaRPr lang="en-US" sz="1600" dirty="0"/>
          </a:p>
          <a:p>
            <a:r>
              <a:rPr lang="en-US" sz="1600" dirty="0"/>
              <a:t>The main difference in developing a blockchain-based app is that its more difficult to fix errors after launching (it is plausible but costly, since you need to republish your app). </a:t>
            </a:r>
          </a:p>
          <a:p>
            <a:endParaRPr lang="en-US" sz="1600" dirty="0"/>
          </a:p>
          <a:p>
            <a:r>
              <a:rPr lang="en-US" sz="1600" dirty="0"/>
              <a:t>So it is important to make as many testing us you can before you launch your app.</a:t>
            </a:r>
          </a:p>
          <a:p>
            <a:endParaRPr lang="en-US" sz="1600" dirty="0"/>
          </a:p>
          <a:p>
            <a:r>
              <a:rPr lang="en-US" sz="1600" dirty="0"/>
              <a:t>Remix allows you to focus on developing and evolving your Smart Contract without having to worry about creating a middle layer or a User Interface. It provides a rudimentary UI for you to interact with your SC, allowing you to refactor and evolve it much faster</a:t>
            </a:r>
            <a:endParaRPr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95C33-7EC8-90C1-42C6-AD0507DA7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FA8CD4-DB2E-D477-3E78-BB13FC3162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A6D1AF-E20A-B80F-605B-156E364C0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270A7-2A42-E410-468F-0570585C21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602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3CECF-9EFE-E81F-B770-B01DA3244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A82AA9-4A4E-B367-33E8-0368BF2F60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A2110B-44C9-8FCD-A3B1-3A71B3C923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971DF2-2D12-F4E8-4B4D-2778DA38A4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89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210BD-D2AD-AA2A-0656-919390C97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AF9C8F-D1CA-EFC1-767E-E3A880C1F4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1D8046-1DE8-20CD-DE9B-6212A64CEF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713D16-38F0-5200-178C-FEECA1F308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3557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ED1EF-3F7B-A823-A077-5AAF50AED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5DC42D-0C52-CDA3-B144-86667D2B49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718907-353E-9372-FE75-91B17CD679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FD8273-01B5-BB46-AAF5-987529EC84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8274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9997A-7DF3-4020-30F9-491D179FD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4E4000-0E98-A8CE-0EAF-5FB43876B1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C730C9-C032-7952-827A-F3E329EBE3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8EB42C-0807-5BE5-4C77-6BB7545834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4709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38EBE-C59A-64F7-6F21-749EA8B13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1219B3-A80C-F485-7D9E-9172CCE695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968A8B-996C-6499-CB73-69A6F46D20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0FAE91-A0EE-0193-80B1-7A6B5854FD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5891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 the code line by line. Describe the pragma directive, variable declarations, and how public variables automatically create getter functions.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AF749-E8E9-E0A0-A2AA-4ED7DBB3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8E5AA9-DC4E-0484-C07B-413C986139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81032D-0EDF-B6EB-040E-C2F15B070E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 the code line by line. Describe the pragma directive, variable declarations, and how public variables automatically create getter functions.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CA36D1-2CBF-7C6D-E077-24115BCDF0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2756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what compilation does: it transforms Solidity code into bytecode and ABI for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7CAD1-6145-939F-018E-41E91B8DF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86FD52-D6A3-6E24-9348-763DB7179B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FAD8C6-DCFC-3568-350F-81B5B5B909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what compilation does: it transforms Solidity code into bytecode and ABI for deployment.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D63F31-0B3A-3BB2-C09B-B6D004AAA6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7813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Demonstrate the deployment process. Explain that each deployment creates a new instance of the contract on a local blockchain.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64D4A-77D4-52DF-32DD-96BC7C8AF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A7063A-4B69-5CCB-8ADC-3B3552B61C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F77D57-B0F7-68AE-6747-6FABA229BF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Demonstrate the deployment process. Explain that each deployment creates a new instance of the contract on a local blockchain.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4E6113-9E06-077A-ABBE-42EBBB6D78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5201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We can view the properties of the album created in our contract by changing the scope of the internal state variables in our contract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Many programming languages expose a constructor function, which is a special function that is called automatically when the program is deployed or invoked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To make the contract more functional we add the following get and set functions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ACB24-65A5-57EC-57BE-B5AF4090B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676B08-D029-90C9-6A72-D20DD42036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102746-6E22-F87F-4DFF-AE7865BB16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To make the contract more functional we add the following get and set functions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C93349-B7E7-97E5-3D99-8906D4E9D3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7960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Ethereum contracts have the ability to define and raise events. Events are commonly used to integrate different applications or systems together. </a:t>
            </a:r>
          </a:p>
          <a:p>
            <a:endParaRPr lang="en-US" dirty="0"/>
          </a:p>
          <a:p>
            <a:r>
              <a:rPr lang="en-US" dirty="0"/>
              <a:t>We will be adding an event definition to your smart contract, and raising that event whenever the current album information is updated using the </a:t>
            </a:r>
            <a:r>
              <a:rPr lang="en-US" dirty="0" err="1"/>
              <a:t>setAlbum</a:t>
            </a:r>
            <a:r>
              <a:rPr lang="en-US" dirty="0"/>
              <a:t> method.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In Solidity, Function Modifiers are used a special sub-functions that get executed prior to the main function they're attached to. </a:t>
            </a:r>
          </a:p>
          <a:p>
            <a:endParaRPr lang="en-US" dirty="0"/>
          </a:p>
          <a:p>
            <a:r>
              <a:rPr lang="en-US" dirty="0"/>
              <a:t>The purpose of a function modifier is to perform required checks, and only allow execution of the main function if all desired checks are passed. </a:t>
            </a:r>
          </a:p>
          <a:p>
            <a:endParaRPr lang="en-US" dirty="0"/>
          </a:p>
          <a:p>
            <a:r>
              <a:rPr lang="en-US" dirty="0"/>
              <a:t>Function Modifiers are commonly used to facilitate role-based access to certain features or abilities of a smart contract. </a:t>
            </a:r>
          </a:p>
          <a:p>
            <a:endParaRPr lang="en-US" dirty="0"/>
          </a:p>
          <a:p>
            <a:r>
              <a:rPr lang="en-US" dirty="0"/>
              <a:t>Remember, it IS possible to build permissioned solutions on permissionless platforms like Ethereum - function modifiers are a common way of doing so.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Next, we'll create the function modifier, </a:t>
            </a:r>
            <a:r>
              <a:rPr lang="en-US" dirty="0" err="1"/>
              <a:t>onlyOwner</a:t>
            </a:r>
            <a:r>
              <a:rPr lang="en-US" dirty="0"/>
              <a:t>, to validate that the initiator (msg.sender) of any transaction our modifier is attached to matches the owner's address. </a:t>
            </a:r>
          </a:p>
          <a:p>
            <a:endParaRPr lang="en-US" dirty="0"/>
          </a:p>
          <a:p>
            <a:r>
              <a:rPr lang="en-US" dirty="0"/>
              <a:t>Add the following code under your constructor. </a:t>
            </a:r>
          </a:p>
          <a:p>
            <a:endParaRPr lang="en-US" dirty="0"/>
          </a:p>
          <a:p>
            <a:r>
              <a:rPr lang="en-US" dirty="0"/>
              <a:t>In the code, the underscore character "_" tells the Ethereum Virtual Machine that all checks in the modifier have been passed and the function this modifier is attached to should be executed. </a:t>
            </a:r>
          </a:p>
          <a:p>
            <a:endParaRPr lang="en-US" dirty="0"/>
          </a:p>
          <a:p>
            <a:r>
              <a:rPr lang="en-US" dirty="0"/>
              <a:t>If the msg.sender value does not match the owner address the underscore "_" line of code will never be reached, and the function this modifier is attached to will NOT be executed. </a:t>
            </a:r>
          </a:p>
          <a:p>
            <a:endParaRPr lang="en-US" dirty="0"/>
          </a:p>
          <a:p>
            <a:r>
              <a:rPr lang="en-US" dirty="0"/>
              <a:t>We can test the SC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1651A-55A0-7DC7-F15E-DD02FAB6D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91559F-A920-7380-AED7-F04BA9C088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26A2EB-CF21-6443-4784-D02629ECCC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Begin by opening a web browser and navigating to the MetaMask official website.</a:t>
            </a:r>
          </a:p>
          <a:p>
            <a:br>
              <a:rPr lang="en-US" dirty="0"/>
            </a:br>
            <a:r>
              <a:rPr lang="en-US" dirty="0"/>
              <a:t>From there, select the correct browser (Chrome, Firefox, Brave, Opera, or Edge) and download the extension.</a:t>
            </a:r>
          </a:p>
          <a:p>
            <a:br>
              <a:rPr lang="en-US" dirty="0"/>
            </a:br>
            <a:r>
              <a:rPr lang="en-US" dirty="0"/>
              <a:t>This will allow you to use MetaMask directly in your browser to manage Ethereum accounts.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7FCD7-275B-E79D-22E2-9F20F4B088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7651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CFAFC-105C-A4DA-EB03-B3422C06C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7B29AE-C962-8759-CBE5-828F0F7F06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95DE23-5A06-5C9E-0959-A98312A0F9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Click on “Add to Chrome” to install the MetaMask browser extension.</a:t>
            </a:r>
          </a:p>
          <a:p>
            <a:br>
              <a:rPr lang="en-US" dirty="0"/>
            </a:br>
            <a:r>
              <a:rPr lang="en-US" dirty="0"/>
              <a:t>Confirm the installation by selecting “Add extension.”</a:t>
            </a:r>
          </a:p>
          <a:p>
            <a:br>
              <a:rPr lang="en-US" dirty="0"/>
            </a:br>
            <a:r>
              <a:rPr lang="en-US" dirty="0"/>
              <a:t>Once installed, launch MetaMask and select “Create a new wallet” to begin setup.</a:t>
            </a:r>
          </a:p>
          <a:p>
            <a:br>
              <a:rPr lang="en-US" dirty="0"/>
            </a:br>
            <a:r>
              <a:rPr lang="en-US" dirty="0"/>
              <a:t>Follow the on-screen instructions to create your password and backup your Secret Recovery Phrase.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FEDE46-6C28-4423-6DC0-F4D9655D13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3443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5C0EE-7D73-2CBD-D9FE-9842028F2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0502B4-1CDE-0C1B-FA0A-4D14DC6B41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24CE16-214F-4293-1087-113BA6738C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Open Remix and go to the “Deploy &amp; Run Transactions” panel.</a:t>
            </a:r>
          </a:p>
          <a:p>
            <a:br>
              <a:rPr lang="en-US" dirty="0"/>
            </a:br>
            <a:r>
              <a:rPr lang="en-US" dirty="0"/>
              <a:t>From the “Environment” dropdown, select either “Injected Provider – MetaMask” or “</a:t>
            </a:r>
            <a:r>
              <a:rPr lang="en-US" dirty="0" err="1"/>
              <a:t>WalletConnect</a:t>
            </a:r>
            <a:r>
              <a:rPr lang="en-US" dirty="0"/>
              <a:t>.”</a:t>
            </a:r>
          </a:p>
          <a:p>
            <a:br>
              <a:rPr lang="en-US" dirty="0"/>
            </a:br>
            <a:r>
              <a:rPr lang="en-US" dirty="0"/>
              <a:t>This links Remix to your MetaMask wallet, allowing you to deploy and interact with smart contracts directly through your wallet.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2DD95D-01C7-88BB-D127-EA64F6DE24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57934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34248-BF80-490A-BE71-27EA65A8F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0A1DEF-B382-6B29-F643-462A47933A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C10651-146D-20BD-D656-77F64889C5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When Remix tries to connect, a MetaMask pop-up from remix.ethereum.org will appear.</a:t>
            </a:r>
          </a:p>
          <a:p>
            <a:br>
              <a:rPr lang="en-US" dirty="0"/>
            </a:br>
            <a:r>
              <a:rPr lang="en-US" dirty="0"/>
              <a:t>Click “Connect” to authorize Remix to access your wallet.</a:t>
            </a:r>
          </a:p>
          <a:p>
            <a:br>
              <a:rPr lang="en-US" dirty="0"/>
            </a:br>
            <a:r>
              <a:rPr lang="en-US" dirty="0"/>
              <a:t>Always double-check the connected account and confirm that you’re on the correct network before approving any transaction.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653220-4EFF-1CC4-636D-C2C0082B02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9520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9B96C-5FB9-A0A1-ED96-DDDB7D11C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A7EE61-67A2-95F4-4CF5-5116E877ED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589C10-8FE9-D5CF-A773-4A100FA901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Check your MetaMask account address under “Account 1 / Addresses.”</a:t>
            </a:r>
          </a:p>
          <a:p>
            <a:br>
              <a:rPr lang="en-US" dirty="0"/>
            </a:br>
            <a:r>
              <a:rPr lang="en-US" dirty="0"/>
              <a:t>Then verify that the same address appears in Remix under “Account.”</a:t>
            </a:r>
          </a:p>
          <a:p>
            <a:br>
              <a:rPr lang="en-US" dirty="0"/>
            </a:br>
            <a:r>
              <a:rPr lang="en-US" dirty="0"/>
              <a:t>If both addresses match, MetaMask is successfully connected to Remix.</a:t>
            </a:r>
          </a:p>
          <a:p>
            <a:br>
              <a:rPr lang="en-US" dirty="0"/>
            </a:br>
            <a:r>
              <a:rPr lang="en-US" dirty="0"/>
              <a:t>You’re now ready to deploy and interact with smart contracts on the test network.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706ECF-82D2-B879-2725-6659931E4E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04376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BAD5D-83CB-1D39-CEC9-0CF278182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7BF8D9-EBD4-4D51-C837-C71AD38560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2F1228-6967-51A3-50FC-1D95381223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Start by opening PowerShell with administrator privileges to avoid permission errors.</a:t>
            </a:r>
          </a:p>
          <a:p>
            <a:br>
              <a:rPr lang="en-US" dirty="0"/>
            </a:br>
            <a:r>
              <a:rPr lang="en-US" dirty="0"/>
              <a:t>Use the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install -g node</a:t>
            </a:r>
            <a:r>
              <a:rPr lang="en-US" dirty="0"/>
              <a:t> command to install Node.js globally.</a:t>
            </a:r>
          </a:p>
          <a:p>
            <a:br>
              <a:rPr lang="en-US" dirty="0"/>
            </a:br>
            <a:r>
              <a:rPr lang="en-US" dirty="0"/>
              <a:t>Then verify that both Node.js and </a:t>
            </a:r>
            <a:r>
              <a:rPr lang="en-US" dirty="0" err="1"/>
              <a:t>npm</a:t>
            </a:r>
            <a:r>
              <a:rPr lang="en-US" dirty="0"/>
              <a:t> are correctly installed using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node -v</a:t>
            </a:r>
            <a:r>
              <a:rPr lang="en-US" dirty="0"/>
              <a:t> and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-v</a:t>
            </a:r>
            <a:r>
              <a:rPr lang="en-US" dirty="0"/>
              <a:t>.</a:t>
            </a:r>
          </a:p>
          <a:p>
            <a:br>
              <a:rPr lang="en-US" dirty="0"/>
            </a:br>
            <a:r>
              <a:rPr lang="en-US" dirty="0"/>
              <a:t>Finally, install the Web3.js library with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install web3</a:t>
            </a:r>
            <a:r>
              <a:rPr lang="en-US" dirty="0"/>
              <a:t>, which allows JavaScript-based blockchain interaction.</a:t>
            </a:r>
          </a:p>
          <a:p>
            <a:br>
              <a:rPr lang="en-US" dirty="0"/>
            </a:br>
            <a:r>
              <a:rPr lang="en-US" dirty="0"/>
              <a:t>Once installed, you’re ready to write and deploy smart contracts from your local machine.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67B83-0828-B408-4141-506C7E5836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5581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640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646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425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55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783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115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355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248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l-GR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753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Πανοραμική 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l-GR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16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Τίτλος και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1851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Εισαγωγικά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841096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Κάρτα ονόματ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6890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στήλε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4427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Στήλη 3 εικόνω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l-GR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l-GR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l-GR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7121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519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357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3443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remix.ethereum.org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hyperlink" Target="https://metamask.io/download" TargetMode="Externa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234069"/>
            <a:ext cx="7080026" cy="2364274"/>
          </a:xfrm>
        </p:spPr>
        <p:txBody>
          <a:bodyPr>
            <a:normAutofit/>
          </a:bodyPr>
          <a:lstStyle/>
          <a:p>
            <a:r>
              <a:rPr dirty="0">
                <a:solidFill>
                  <a:schemeClr val="accent1"/>
                </a:solidFill>
              </a:rPr>
              <a:t>Blockchain Smart Contract Lab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solidFill>
                  <a:srgbClr val="FFC000"/>
                </a:solidFill>
              </a:rPr>
              <a:t>Remix Ethereum Platform and UI</a:t>
            </a:r>
          </a:p>
          <a:p>
            <a:r>
              <a:rPr lang="en-US" dirty="0">
                <a:solidFill>
                  <a:srgbClr val="FFC000"/>
                </a:solidFill>
              </a:rPr>
              <a:t>2</a:t>
            </a:r>
            <a:r>
              <a:rPr dirty="0">
                <a:solidFill>
                  <a:srgbClr val="FFC000"/>
                </a:solidFill>
              </a:rPr>
              <a:t>-Hour Hands-On Workshop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D711553-6A32-A59A-5A1A-06CEF62C5F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7698" y="5648098"/>
            <a:ext cx="1226634" cy="74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73C2BF7D-857C-109A-BBDA-C79B4A4F911E}"/>
              </a:ext>
            </a:extLst>
          </p:cNvPr>
          <p:cNvCxnSpPr>
            <a:cxnSpLocks/>
            <a:stCxn id="1026" idx="1"/>
          </p:cNvCxnSpPr>
          <p:nvPr/>
        </p:nvCxnSpPr>
        <p:spPr>
          <a:xfrm flipH="1">
            <a:off x="512956" y="6023036"/>
            <a:ext cx="7084742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ubtitle 2">
            <a:extLst>
              <a:ext uri="{FF2B5EF4-FFF2-40B4-BE49-F238E27FC236}">
                <a16:creationId xmlns:a16="http://schemas.microsoft.com/office/drawing/2014/main" id="{A8E7ACD4-E954-8C36-EB1A-73E885873969}"/>
              </a:ext>
            </a:extLst>
          </p:cNvPr>
          <p:cNvSpPr txBox="1">
            <a:spLocks/>
          </p:cNvSpPr>
          <p:nvPr/>
        </p:nvSpPr>
        <p:spPr>
          <a:xfrm>
            <a:off x="1130989" y="4973173"/>
            <a:ext cx="7080026" cy="57490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i="1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Vangelis Malamas, Dimitris Koutras, Spiros Papagiannopoulos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Quick Overview 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dirty="0">
                <a:solidFill>
                  <a:schemeClr val="accent1"/>
                </a:solidFill>
              </a:rPr>
              <a:t>Blockchain</a:t>
            </a:r>
            <a:r>
              <a:rPr dirty="0"/>
              <a:t> is a distributed ledger technology that records transactions across multiple computers securely, immutably, and transparently.</a:t>
            </a:r>
            <a:endParaRPr lang="en-US" dirty="0"/>
          </a:p>
          <a:p>
            <a:pPr algn="just"/>
            <a:r>
              <a:rPr lang="en-US" dirty="0">
                <a:solidFill>
                  <a:schemeClr val="accent1"/>
                </a:solidFill>
              </a:rPr>
              <a:t>Ethereum</a:t>
            </a:r>
            <a:r>
              <a:rPr lang="en-US" dirty="0"/>
              <a:t> is a blockchain platform that allows developers to create and deploy decentralized applications (</a:t>
            </a:r>
            <a:r>
              <a:rPr lang="en-US" dirty="0" err="1"/>
              <a:t>dApps</a:t>
            </a:r>
            <a:r>
              <a:rPr lang="en-US" dirty="0"/>
              <a:t>) using smart contracts written in Solidity.</a:t>
            </a:r>
          </a:p>
          <a:p>
            <a:pPr algn="just"/>
            <a:r>
              <a:rPr lang="en-US" dirty="0"/>
              <a:t>A </a:t>
            </a:r>
            <a:r>
              <a:rPr lang="en-US" dirty="0">
                <a:solidFill>
                  <a:schemeClr val="accent1"/>
                </a:solidFill>
              </a:rPr>
              <a:t>Smart Contract </a:t>
            </a:r>
            <a:r>
              <a:rPr lang="en-US" dirty="0"/>
              <a:t>is a self-executing digital agreement coded in Solidity. It enforces terms automatically without intermediaries.</a:t>
            </a:r>
          </a:p>
          <a:p>
            <a:endParaRPr lang="en-US" dirty="0"/>
          </a:p>
          <a:p>
            <a:endParaRPr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E1452A7-F467-D0E0-EE79-9D2C2C3A1D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7698" y="5648098"/>
            <a:ext cx="1226634" cy="74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EE0996BE-0D1A-7D59-F28C-B2AC23D66FC6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512956" y="6023036"/>
            <a:ext cx="7084742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C000"/>
                </a:solidFill>
              </a:rPr>
              <a:t>Remix IDE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accent1"/>
                </a:solidFill>
              </a:rPr>
              <a:t>Remix IDE </a:t>
            </a:r>
            <a:r>
              <a:rPr dirty="0"/>
              <a:t>is a browser-based development environment that supports writing, compiling, deploying, and debugging Solidity smart contracts.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140B1B9-7A42-EC46-9F9A-FC6DDA691E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7698" y="5648098"/>
            <a:ext cx="1226634" cy="74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5F818080-C874-7F33-04CC-259CEB69C3CB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512956" y="6023036"/>
            <a:ext cx="7084742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Εικόνα 6">
            <a:extLst>
              <a:ext uri="{FF2B5EF4-FFF2-40B4-BE49-F238E27FC236}">
                <a16:creationId xmlns:a16="http://schemas.microsoft.com/office/drawing/2014/main" id="{C4F4D4F1-21BA-0FE7-4EA9-3DA9934AA8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9825" y="2789547"/>
            <a:ext cx="4448175" cy="30783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6C32D-6AD7-5E45-8CE6-276654145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F31EA-25D9-020B-AA25-D54EB6DF9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C000"/>
                </a:solidFill>
              </a:rPr>
              <a:t>Remix IDE </a:t>
            </a:r>
            <a:r>
              <a:rPr lang="en-US" dirty="0">
                <a:solidFill>
                  <a:srgbClr val="FFC000"/>
                </a:solidFill>
              </a:rPr>
              <a:t>Interface Components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F1676-F6B6-738E-DA02-5B2B78E21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Begin by opening a browser and navigate to:</a:t>
            </a:r>
          </a:p>
          <a:p>
            <a:pPr marL="36900" indent="0" algn="ctr">
              <a:buNone/>
            </a:pPr>
            <a:r>
              <a:rPr lang="en-US" dirty="0">
                <a:solidFill>
                  <a:schemeClr val="tx1"/>
                </a:solidFill>
                <a:hlinkClick r:id="rId3"/>
              </a:rPr>
              <a:t>https://remix.ethereum.org</a:t>
            </a:r>
            <a:r>
              <a:rPr lang="en-US" dirty="0">
                <a:solidFill>
                  <a:schemeClr val="tx1"/>
                </a:solidFill>
              </a:rPr>
              <a:t>  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7DF4979-7026-7B3E-BDCB-9798301A3D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7698" y="5648098"/>
            <a:ext cx="1226634" cy="74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4BE750E6-BFD3-5888-7FB0-8820D0D9A2B4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512956" y="6023036"/>
            <a:ext cx="7084742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F8B73CF-468A-5147-E803-709DD2A8477B}"/>
              </a:ext>
            </a:extLst>
          </p:cNvPr>
          <p:cNvSpPr txBox="1"/>
          <p:nvPr/>
        </p:nvSpPr>
        <p:spPr>
          <a:xfrm>
            <a:off x="3201169" y="3220135"/>
            <a:ext cx="2733675" cy="1634490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File Explorer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Code Editor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Compiler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Deploy &amp; Run panel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Console.</a:t>
            </a:r>
          </a:p>
        </p:txBody>
      </p:sp>
    </p:spTree>
    <p:extLst>
      <p:ext uri="{BB962C8B-B14F-4D97-AF65-F5344CB8AC3E}">
        <p14:creationId xmlns:p14="http://schemas.microsoft.com/office/powerpoint/2010/main" val="1476233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9BF01-D8EF-A691-54AB-05897EFFD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BB20E-99D0-4627-44B4-63CA65C5C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C000"/>
                </a:solidFill>
              </a:rPr>
              <a:t>Remix IDE </a:t>
            </a:r>
            <a:r>
              <a:rPr lang="en-US" dirty="0">
                <a:solidFill>
                  <a:srgbClr val="FFC000"/>
                </a:solidFill>
              </a:rPr>
              <a:t>File Explorer</a:t>
            </a:r>
            <a:endParaRPr dirty="0">
              <a:solidFill>
                <a:srgbClr val="FFC000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47B40D9-31C8-0E12-9626-1988F641DA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7698" y="5648098"/>
            <a:ext cx="1226634" cy="74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5F35200D-65E7-6715-EB75-A49AFE70FE88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512956" y="6023036"/>
            <a:ext cx="7084742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Εικόνα 5">
            <a:extLst>
              <a:ext uri="{FF2B5EF4-FFF2-40B4-BE49-F238E27FC236}">
                <a16:creationId xmlns:a16="http://schemas.microsoft.com/office/drawing/2014/main" id="{00023F27-DB90-B2F0-42C9-CFE38F470C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5782" y="2014400"/>
            <a:ext cx="4250991" cy="3494849"/>
          </a:xfrm>
          <a:prstGeom prst="rect">
            <a:avLst/>
          </a:prstGeom>
        </p:spPr>
      </p:pic>
      <p:cxnSp>
        <p:nvCxnSpPr>
          <p:cNvPr id="8" name="Ευθύγραμμο βέλος σύνδεσης 7">
            <a:extLst>
              <a:ext uri="{FF2B5EF4-FFF2-40B4-BE49-F238E27FC236}">
                <a16:creationId xmlns:a16="http://schemas.microsoft.com/office/drawing/2014/main" id="{DA9BBDAD-03A6-4759-3A5E-E38B3FB59DB1}"/>
              </a:ext>
            </a:extLst>
          </p:cNvPr>
          <p:cNvCxnSpPr/>
          <p:nvPr/>
        </p:nvCxnSpPr>
        <p:spPr>
          <a:xfrm>
            <a:off x="4110152" y="3601173"/>
            <a:ext cx="314325" cy="20037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Ευθύγραμμο βέλος σύνδεσης 8">
            <a:extLst>
              <a:ext uri="{FF2B5EF4-FFF2-40B4-BE49-F238E27FC236}">
                <a16:creationId xmlns:a16="http://schemas.microsoft.com/office/drawing/2014/main" id="{8F8E3851-FF5B-5FC5-A56C-B0B89CC4866B}"/>
              </a:ext>
            </a:extLst>
          </p:cNvPr>
          <p:cNvCxnSpPr/>
          <p:nvPr/>
        </p:nvCxnSpPr>
        <p:spPr>
          <a:xfrm>
            <a:off x="4267315" y="3360880"/>
            <a:ext cx="314325" cy="20037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216CA79-E6CF-FB15-EF6E-EB24A33FBF8C}"/>
              </a:ext>
            </a:extLst>
          </p:cNvPr>
          <p:cNvSpPr txBox="1"/>
          <p:nvPr/>
        </p:nvSpPr>
        <p:spPr>
          <a:xfrm>
            <a:off x="883296" y="3577159"/>
            <a:ext cx="2316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chemeClr val="accent3"/>
                </a:solidFill>
              </a:rPr>
              <a:t>Create a new contract</a:t>
            </a:r>
          </a:p>
        </p:txBody>
      </p:sp>
    </p:spTree>
    <p:extLst>
      <p:ext uri="{BB962C8B-B14F-4D97-AF65-F5344CB8AC3E}">
        <p14:creationId xmlns:p14="http://schemas.microsoft.com/office/powerpoint/2010/main" val="2506283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E6A91-349F-DC02-3FBE-F91CA75EE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AA1D9-0E43-6E01-1FA3-3943F59FC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C000"/>
                </a:solidFill>
              </a:rPr>
              <a:t>Remix IDE </a:t>
            </a:r>
            <a:r>
              <a:rPr lang="en-US" dirty="0">
                <a:solidFill>
                  <a:srgbClr val="FFC000"/>
                </a:solidFill>
              </a:rPr>
              <a:t>Code Editor</a:t>
            </a:r>
            <a:endParaRPr dirty="0">
              <a:solidFill>
                <a:srgbClr val="FFC000"/>
              </a:solidFill>
            </a:endParaRPr>
          </a:p>
        </p:txBody>
      </p:sp>
      <p:pic>
        <p:nvPicPr>
          <p:cNvPr id="11" name="Θέση περιεχομένου 10">
            <a:extLst>
              <a:ext uri="{FF2B5EF4-FFF2-40B4-BE49-F238E27FC236}">
                <a16:creationId xmlns:a16="http://schemas.microsoft.com/office/drawing/2014/main" id="{7E8D80C2-111F-A784-CFB7-7FBF823D78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17099" y="1588861"/>
            <a:ext cx="5793916" cy="4059237"/>
          </a:xfr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7F0AFFCF-4AC4-E0FF-1C31-2555817ADE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7698" y="5648098"/>
            <a:ext cx="1226634" cy="74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FD75C492-83A9-03B0-2153-3673C97A897D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512956" y="6023036"/>
            <a:ext cx="7084742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Ευθύγραμμο βέλος σύνδεσης 8">
            <a:extLst>
              <a:ext uri="{FF2B5EF4-FFF2-40B4-BE49-F238E27FC236}">
                <a16:creationId xmlns:a16="http://schemas.microsoft.com/office/drawing/2014/main" id="{88ED14FC-C9CB-E4AA-4E53-31B91D2B6DCD}"/>
              </a:ext>
            </a:extLst>
          </p:cNvPr>
          <p:cNvCxnSpPr/>
          <p:nvPr/>
        </p:nvCxnSpPr>
        <p:spPr>
          <a:xfrm>
            <a:off x="2417099" y="2302928"/>
            <a:ext cx="314325" cy="20037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9B8FBE2-CA43-B928-CDE8-8C782C116828}"/>
              </a:ext>
            </a:extLst>
          </p:cNvPr>
          <p:cNvSpPr txBox="1"/>
          <p:nvPr/>
        </p:nvSpPr>
        <p:spPr>
          <a:xfrm>
            <a:off x="356206" y="3269271"/>
            <a:ext cx="1447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chemeClr val="accent3"/>
                </a:solidFill>
              </a:rPr>
              <a:t>Write the SC</a:t>
            </a:r>
          </a:p>
        </p:txBody>
      </p:sp>
      <p:sp>
        <p:nvSpPr>
          <p:cNvPr id="12" name="Ορθογώνιο 11">
            <a:extLst>
              <a:ext uri="{FF2B5EF4-FFF2-40B4-BE49-F238E27FC236}">
                <a16:creationId xmlns:a16="http://schemas.microsoft.com/office/drawing/2014/main" id="{4FBF4654-5BC2-4F21-3CE3-E278EFA21125}"/>
              </a:ext>
            </a:extLst>
          </p:cNvPr>
          <p:cNvSpPr/>
          <p:nvPr/>
        </p:nvSpPr>
        <p:spPr>
          <a:xfrm>
            <a:off x="4305300" y="1781175"/>
            <a:ext cx="3905715" cy="3657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847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88DBF-7BB8-4C62-7DAF-CADF59DF7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95909-942E-21CF-494F-69DAFE0F8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C000"/>
                </a:solidFill>
              </a:rPr>
              <a:t>Remix IDE </a:t>
            </a:r>
            <a:r>
              <a:rPr lang="en-US" dirty="0">
                <a:solidFill>
                  <a:srgbClr val="FFC000"/>
                </a:solidFill>
              </a:rPr>
              <a:t>Compiler</a:t>
            </a:r>
            <a:endParaRPr dirty="0">
              <a:solidFill>
                <a:srgbClr val="FFC000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91405F7-B18F-BF4A-3604-2FD95DDE2D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7698" y="5648098"/>
            <a:ext cx="1226634" cy="74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38D4335F-383B-F9F1-A2BE-0792132E17EF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512956" y="6023036"/>
            <a:ext cx="7084742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0C0FA1B-E3CD-738E-F76F-65E1BB9E7795}"/>
              </a:ext>
            </a:extLst>
          </p:cNvPr>
          <p:cNvSpPr txBox="1"/>
          <p:nvPr/>
        </p:nvSpPr>
        <p:spPr>
          <a:xfrm>
            <a:off x="356206" y="3269271"/>
            <a:ext cx="1739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chemeClr val="accent3"/>
                </a:solidFill>
              </a:rPr>
              <a:t>Compile the SC</a:t>
            </a:r>
          </a:p>
        </p:txBody>
      </p:sp>
      <p:pic>
        <p:nvPicPr>
          <p:cNvPr id="8" name="Θέση περιεχομένου 7">
            <a:extLst>
              <a:ext uri="{FF2B5EF4-FFF2-40B4-BE49-F238E27FC236}">
                <a16:creationId xmlns:a16="http://schemas.microsoft.com/office/drawing/2014/main" id="{507BE984-A922-1666-D25F-4A93C95B8A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763200" y="1580050"/>
            <a:ext cx="5447815" cy="4059237"/>
          </a:xfrm>
        </p:spPr>
      </p:pic>
      <p:sp>
        <p:nvSpPr>
          <p:cNvPr id="12" name="Ορθογώνιο 11">
            <a:extLst>
              <a:ext uri="{FF2B5EF4-FFF2-40B4-BE49-F238E27FC236}">
                <a16:creationId xmlns:a16="http://schemas.microsoft.com/office/drawing/2014/main" id="{BFB722B4-E8D8-CFF7-20C3-FB07CC27C433}"/>
              </a:ext>
            </a:extLst>
          </p:cNvPr>
          <p:cNvSpPr/>
          <p:nvPr/>
        </p:nvSpPr>
        <p:spPr>
          <a:xfrm>
            <a:off x="3048000" y="1781175"/>
            <a:ext cx="1524000" cy="1771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Ευθύγραμμο βέλος σύνδεσης 8">
            <a:extLst>
              <a:ext uri="{FF2B5EF4-FFF2-40B4-BE49-F238E27FC236}">
                <a16:creationId xmlns:a16="http://schemas.microsoft.com/office/drawing/2014/main" id="{CED4ABF1-FDBA-FAC5-E1BD-478D7AA2D2E2}"/>
              </a:ext>
            </a:extLst>
          </p:cNvPr>
          <p:cNvCxnSpPr/>
          <p:nvPr/>
        </p:nvCxnSpPr>
        <p:spPr>
          <a:xfrm>
            <a:off x="2494022" y="2403113"/>
            <a:ext cx="314325" cy="20037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Ευθύγραμμο βέλος σύνδεσης 12">
            <a:extLst>
              <a:ext uri="{FF2B5EF4-FFF2-40B4-BE49-F238E27FC236}">
                <a16:creationId xmlns:a16="http://schemas.microsoft.com/office/drawing/2014/main" id="{18D55829-3A93-83DC-E2DA-125F7D0669A7}"/>
              </a:ext>
            </a:extLst>
          </p:cNvPr>
          <p:cNvCxnSpPr/>
          <p:nvPr/>
        </p:nvCxnSpPr>
        <p:spPr>
          <a:xfrm>
            <a:off x="2890837" y="1891396"/>
            <a:ext cx="314325" cy="20037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Ευθύγραμμο βέλος σύνδεσης 13">
            <a:extLst>
              <a:ext uri="{FF2B5EF4-FFF2-40B4-BE49-F238E27FC236}">
                <a16:creationId xmlns:a16="http://schemas.microsoft.com/office/drawing/2014/main" id="{A7C5FF7E-E37C-C0B0-8DC1-631A466CE8ED}"/>
              </a:ext>
            </a:extLst>
          </p:cNvPr>
          <p:cNvCxnSpPr/>
          <p:nvPr/>
        </p:nvCxnSpPr>
        <p:spPr>
          <a:xfrm>
            <a:off x="2879784" y="2861846"/>
            <a:ext cx="314325" cy="20037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6558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4AA83-BF96-E65B-6400-20366E7B5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3AD6F-FE32-F1A2-1595-C9147F050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C000"/>
                </a:solidFill>
              </a:rPr>
              <a:t>Remix IDE </a:t>
            </a:r>
            <a:r>
              <a:rPr lang="en-US" dirty="0">
                <a:solidFill>
                  <a:srgbClr val="FFC000"/>
                </a:solidFill>
              </a:rPr>
              <a:t>Deploy &amp; Run</a:t>
            </a:r>
            <a:endParaRPr dirty="0">
              <a:solidFill>
                <a:srgbClr val="FFC000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E989E21-A786-02A8-513D-DBFD9F4AEC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7698" y="5648098"/>
            <a:ext cx="1226634" cy="74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D23860B3-C029-A228-62AC-158201A7CA89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512956" y="6023036"/>
            <a:ext cx="7084742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B5C62A2-4DFC-AC2D-D9A4-9299F7F3B1A5}"/>
              </a:ext>
            </a:extLst>
          </p:cNvPr>
          <p:cNvSpPr txBox="1"/>
          <p:nvPr/>
        </p:nvSpPr>
        <p:spPr>
          <a:xfrm>
            <a:off x="813406" y="1693970"/>
            <a:ext cx="2390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chemeClr val="accent3"/>
                </a:solidFill>
              </a:rPr>
              <a:t>Deploy &amp; Run the SC</a:t>
            </a:r>
          </a:p>
        </p:txBody>
      </p:sp>
      <p:cxnSp>
        <p:nvCxnSpPr>
          <p:cNvPr id="13" name="Ευθύγραμμο βέλος σύνδεσης 12">
            <a:extLst>
              <a:ext uri="{FF2B5EF4-FFF2-40B4-BE49-F238E27FC236}">
                <a16:creationId xmlns:a16="http://schemas.microsoft.com/office/drawing/2014/main" id="{86762A7C-E065-A27D-A815-DF2452B41A50}"/>
              </a:ext>
            </a:extLst>
          </p:cNvPr>
          <p:cNvCxnSpPr/>
          <p:nvPr/>
        </p:nvCxnSpPr>
        <p:spPr>
          <a:xfrm>
            <a:off x="4497328" y="2302928"/>
            <a:ext cx="314325" cy="20037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Εικόνα 10">
            <a:extLst>
              <a:ext uri="{FF2B5EF4-FFF2-40B4-BE49-F238E27FC236}">
                <a16:creationId xmlns:a16="http://schemas.microsoft.com/office/drawing/2014/main" id="{21ED3B83-0523-5195-9154-A5B67C84F8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1653" y="1586160"/>
            <a:ext cx="4059586" cy="3735553"/>
          </a:xfrm>
          <a:prstGeom prst="rect">
            <a:avLst/>
          </a:prstGeom>
        </p:spPr>
      </p:pic>
      <p:sp>
        <p:nvSpPr>
          <p:cNvPr id="12" name="Ορθογώνιο 11">
            <a:extLst>
              <a:ext uri="{FF2B5EF4-FFF2-40B4-BE49-F238E27FC236}">
                <a16:creationId xmlns:a16="http://schemas.microsoft.com/office/drawing/2014/main" id="{3C79AA60-90A0-3937-E679-D300C2F5886A}"/>
              </a:ext>
            </a:extLst>
          </p:cNvPr>
          <p:cNvSpPr/>
          <p:nvPr/>
        </p:nvSpPr>
        <p:spPr>
          <a:xfrm>
            <a:off x="4995775" y="1717657"/>
            <a:ext cx="1157375" cy="29210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Ευθύγραμμο βέλος σύνδεσης 8">
            <a:extLst>
              <a:ext uri="{FF2B5EF4-FFF2-40B4-BE49-F238E27FC236}">
                <a16:creationId xmlns:a16="http://schemas.microsoft.com/office/drawing/2014/main" id="{AB7D1633-88F4-57D9-60C9-33FF09FF04B2}"/>
              </a:ext>
            </a:extLst>
          </p:cNvPr>
          <p:cNvCxnSpPr/>
          <p:nvPr/>
        </p:nvCxnSpPr>
        <p:spPr>
          <a:xfrm>
            <a:off x="4838612" y="1878636"/>
            <a:ext cx="314325" cy="20037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Ευθύγραμμο βέλος σύνδεσης 13">
            <a:extLst>
              <a:ext uri="{FF2B5EF4-FFF2-40B4-BE49-F238E27FC236}">
                <a16:creationId xmlns:a16="http://schemas.microsoft.com/office/drawing/2014/main" id="{EB7155E3-4CF0-9D65-0D08-27955703AC8B}"/>
              </a:ext>
            </a:extLst>
          </p:cNvPr>
          <p:cNvCxnSpPr/>
          <p:nvPr/>
        </p:nvCxnSpPr>
        <p:spPr>
          <a:xfrm>
            <a:off x="4783078" y="3552549"/>
            <a:ext cx="314325" cy="20037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996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CF7EB-6A98-15AC-4D0F-A420DB723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0F4E4-002F-624B-FAC0-C6E106717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C000"/>
                </a:solidFill>
              </a:rPr>
              <a:t>Remix IDE </a:t>
            </a:r>
            <a:r>
              <a:rPr lang="en-US" dirty="0">
                <a:solidFill>
                  <a:srgbClr val="FFC000"/>
                </a:solidFill>
              </a:rPr>
              <a:t>Console</a:t>
            </a:r>
            <a:endParaRPr dirty="0">
              <a:solidFill>
                <a:srgbClr val="FFC000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F8E5DB5-9876-9A50-F5A7-883DE8EB13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7698" y="5648098"/>
            <a:ext cx="1226634" cy="74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23C4C494-5F63-CC8D-BCAB-23597793C7F2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512956" y="6023036"/>
            <a:ext cx="7084742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Εικόνα 5">
            <a:extLst>
              <a:ext uri="{FF2B5EF4-FFF2-40B4-BE49-F238E27FC236}">
                <a16:creationId xmlns:a16="http://schemas.microsoft.com/office/drawing/2014/main" id="{15671835-D2D6-2E64-77A7-6DA0CAD08F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7675" y="1516150"/>
            <a:ext cx="4566657" cy="3975637"/>
          </a:xfrm>
          <a:prstGeom prst="rect">
            <a:avLst/>
          </a:prstGeom>
        </p:spPr>
      </p:pic>
      <p:sp>
        <p:nvSpPr>
          <p:cNvPr id="12" name="Ορθογώνιο 11">
            <a:extLst>
              <a:ext uri="{FF2B5EF4-FFF2-40B4-BE49-F238E27FC236}">
                <a16:creationId xmlns:a16="http://schemas.microsoft.com/office/drawing/2014/main" id="{F3CAD300-C832-0417-F807-70C3ECADAE85}"/>
              </a:ext>
            </a:extLst>
          </p:cNvPr>
          <p:cNvSpPr/>
          <p:nvPr/>
        </p:nvSpPr>
        <p:spPr>
          <a:xfrm>
            <a:off x="5791200" y="4038600"/>
            <a:ext cx="3033132" cy="14531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Ευθύγραμμο βέλος σύνδεσης 13">
            <a:extLst>
              <a:ext uri="{FF2B5EF4-FFF2-40B4-BE49-F238E27FC236}">
                <a16:creationId xmlns:a16="http://schemas.microsoft.com/office/drawing/2014/main" id="{949FB22B-F849-922E-58B7-55DFA066D382}"/>
              </a:ext>
            </a:extLst>
          </p:cNvPr>
          <p:cNvCxnSpPr/>
          <p:nvPr/>
        </p:nvCxnSpPr>
        <p:spPr>
          <a:xfrm>
            <a:off x="4222995" y="4243472"/>
            <a:ext cx="314325" cy="20037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Ευθύγραμμο βέλος σύνδεσης 12">
            <a:extLst>
              <a:ext uri="{FF2B5EF4-FFF2-40B4-BE49-F238E27FC236}">
                <a16:creationId xmlns:a16="http://schemas.microsoft.com/office/drawing/2014/main" id="{850036EC-A5CC-A1CC-822D-7B2F1E091B9E}"/>
              </a:ext>
            </a:extLst>
          </p:cNvPr>
          <p:cNvCxnSpPr/>
          <p:nvPr/>
        </p:nvCxnSpPr>
        <p:spPr>
          <a:xfrm>
            <a:off x="5634037" y="5133254"/>
            <a:ext cx="314325" cy="20037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Ευθύγραμμο βέλος σύνδεσης 8">
            <a:extLst>
              <a:ext uri="{FF2B5EF4-FFF2-40B4-BE49-F238E27FC236}">
                <a16:creationId xmlns:a16="http://schemas.microsoft.com/office/drawing/2014/main" id="{3CC4DFF5-2254-8E3B-9A16-9A2F664DF1D1}"/>
              </a:ext>
            </a:extLst>
          </p:cNvPr>
          <p:cNvCxnSpPr/>
          <p:nvPr/>
        </p:nvCxnSpPr>
        <p:spPr>
          <a:xfrm>
            <a:off x="4100512" y="4564823"/>
            <a:ext cx="314325" cy="20037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7097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C000"/>
                </a:solidFill>
              </a:rPr>
              <a:t>Developing dApp</a:t>
            </a:r>
            <a:br>
              <a:rPr lang="en-US" dirty="0">
                <a:solidFill>
                  <a:srgbClr val="FFC000"/>
                </a:solidFill>
              </a:rPr>
            </a:br>
            <a:r>
              <a:rPr lang="en-US" sz="2200" i="1" dirty="0">
                <a:solidFill>
                  <a:srgbClr val="FFC000"/>
                </a:solidFill>
              </a:rPr>
              <a:t>Use Case: Jukebox</a:t>
            </a:r>
            <a:endParaRPr i="1" dirty="0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/>
              <a:t>General Description:</a:t>
            </a:r>
            <a:r>
              <a:rPr lang="en-US" dirty="0"/>
              <a:t> </a:t>
            </a:r>
            <a:r>
              <a:rPr lang="en-US" i="1" dirty="0"/>
              <a:t>Build an app which uses an Ethereum blockchain network to keep track of the albums our Jukebox device is playing. This Jukebox allows users to request not just a song but an entire album.</a:t>
            </a:r>
          </a:p>
          <a:p>
            <a:pPr marL="36900" indent="0">
              <a:buNone/>
            </a:pPr>
            <a:endParaRPr i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207C240-14AB-F603-B8E3-09D499AEAF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7698" y="5648098"/>
            <a:ext cx="1226634" cy="74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115F3580-8425-2985-629D-8DE6D9AA42E6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512956" y="6023036"/>
            <a:ext cx="7084742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Βέλος: Δεξιό 5">
            <a:extLst>
              <a:ext uri="{FF2B5EF4-FFF2-40B4-BE49-F238E27FC236}">
                <a16:creationId xmlns:a16="http://schemas.microsoft.com/office/drawing/2014/main" id="{06A4D68A-3FDC-760A-4BEB-F00FD21998B4}"/>
              </a:ext>
            </a:extLst>
          </p:cNvPr>
          <p:cNvSpPr/>
          <p:nvPr/>
        </p:nvSpPr>
        <p:spPr>
          <a:xfrm>
            <a:off x="1124719" y="3331579"/>
            <a:ext cx="314325" cy="304799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B7BAC3-2F4F-E0A9-59AC-3A18C5C5A11F}"/>
              </a:ext>
            </a:extLst>
          </p:cNvPr>
          <p:cNvSpPr txBox="1"/>
          <p:nvPr/>
        </p:nvSpPr>
        <p:spPr>
          <a:xfrm>
            <a:off x="1439044" y="3160814"/>
            <a:ext cx="67715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The decentralized, permanent ledger will serve as the official, trusted source of record for calculating royalty payments to the artists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C000"/>
                </a:solidFill>
              </a:rPr>
              <a:t>Writing the First Smart Contract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2CADC79-F544-3B07-F007-7A69D7C17A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7698" y="5648098"/>
            <a:ext cx="1226634" cy="74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89965DC2-B9C7-1A22-9309-25192C0728F4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512956" y="6023036"/>
            <a:ext cx="7084742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6558257-5CC2-41D6-D17B-056CAC126183}"/>
              </a:ext>
            </a:extLst>
          </p:cNvPr>
          <p:cNvSpPr txBox="1"/>
          <p:nvPr/>
        </p:nvSpPr>
        <p:spPr>
          <a:xfrm>
            <a:off x="762000" y="2135963"/>
            <a:ext cx="4219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First, we </a:t>
            </a:r>
            <a:r>
              <a:rPr lang="en-US" dirty="0">
                <a:solidFill>
                  <a:schemeClr val="accent1"/>
                </a:solidFill>
              </a:rPr>
              <a:t>create a new SC </a:t>
            </a:r>
            <a:r>
              <a:rPr lang="en-US" dirty="0"/>
              <a:t>named “</a:t>
            </a:r>
            <a:r>
              <a:rPr lang="en-US" i="1" dirty="0"/>
              <a:t>Album.sol</a:t>
            </a:r>
            <a:r>
              <a:rPr lang="en-US" dirty="0"/>
              <a:t>” from the File Explorer tab</a:t>
            </a:r>
          </a:p>
        </p:txBody>
      </p:sp>
      <p:sp>
        <p:nvSpPr>
          <p:cNvPr id="7" name="Ορθογώνιο 6">
            <a:extLst>
              <a:ext uri="{FF2B5EF4-FFF2-40B4-BE49-F238E27FC236}">
                <a16:creationId xmlns:a16="http://schemas.microsoft.com/office/drawing/2014/main" id="{7EE3F34C-0850-F167-9274-8BF4B9948B7F}"/>
              </a:ext>
            </a:extLst>
          </p:cNvPr>
          <p:cNvSpPr/>
          <p:nvPr/>
        </p:nvSpPr>
        <p:spPr>
          <a:xfrm>
            <a:off x="481240" y="2248284"/>
            <a:ext cx="190500" cy="2108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Εικόνα 11">
            <a:extLst>
              <a:ext uri="{FF2B5EF4-FFF2-40B4-BE49-F238E27FC236}">
                <a16:creationId xmlns:a16="http://schemas.microsoft.com/office/drawing/2014/main" id="{3E647B82-C77A-51D8-0D34-995C5F0551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536" y="1580049"/>
            <a:ext cx="4379940" cy="3772997"/>
          </a:xfrm>
          <a:prstGeom prst="rect">
            <a:avLst/>
          </a:prstGeom>
        </p:spPr>
      </p:pic>
      <p:cxnSp>
        <p:nvCxnSpPr>
          <p:cNvPr id="13" name="Ευθύγραμμο βέλος σύνδεσης 12">
            <a:extLst>
              <a:ext uri="{FF2B5EF4-FFF2-40B4-BE49-F238E27FC236}">
                <a16:creationId xmlns:a16="http://schemas.microsoft.com/office/drawing/2014/main" id="{30F30341-44B9-D8A3-083B-917CA156B8D1}"/>
              </a:ext>
            </a:extLst>
          </p:cNvPr>
          <p:cNvCxnSpPr/>
          <p:nvPr/>
        </p:nvCxnSpPr>
        <p:spPr>
          <a:xfrm>
            <a:off x="4491276" y="2141280"/>
            <a:ext cx="330740" cy="2140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Εικόνα 13">
            <a:extLst>
              <a:ext uri="{FF2B5EF4-FFF2-40B4-BE49-F238E27FC236}">
                <a16:creationId xmlns:a16="http://schemas.microsoft.com/office/drawing/2014/main" id="{A4DCE689-6374-0287-FFD6-5C666C5CEF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384" y="4033490"/>
            <a:ext cx="3261943" cy="13195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800F3-B0F1-84DC-83B5-8F7E316AD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DD5A2-D208-81B1-66B1-8434D706B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C000"/>
                </a:solidFill>
              </a:rPr>
              <a:t>Writing the First Smart Contract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15640-7EA6-A058-190E-4AC5C7201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6206" y="1739744"/>
            <a:ext cx="3086554" cy="2085100"/>
          </a:xfrm>
          <a:ln>
            <a:solidFill>
              <a:schemeClr val="tx1"/>
            </a:solidFill>
          </a:ln>
        </p:spPr>
        <p:txBody>
          <a:bodyPr>
            <a:normAutofit fontScale="77500" lnSpcReduction="20000"/>
          </a:bodyPr>
          <a:lstStyle/>
          <a:p>
            <a:pPr marL="36900" indent="0">
              <a:buNone/>
            </a:pPr>
            <a:r>
              <a:rPr sz="1600" dirty="0">
                <a:solidFill>
                  <a:srgbClr val="49916F"/>
                </a:solidFill>
                <a:latin typeface="Consolas" panose="020B0609020204030204" pitchFamily="49" charset="0"/>
              </a:rPr>
              <a:t>// SPDX-License-Identifier: MIT</a:t>
            </a:r>
          </a:p>
          <a:p>
            <a:pPr marL="36900" indent="0">
              <a:buNone/>
            </a:pPr>
            <a:r>
              <a:rPr sz="1600" dirty="0">
                <a:solidFill>
                  <a:srgbClr val="0070C0"/>
                </a:solidFill>
                <a:latin typeface="Consolas" panose="020B0609020204030204" pitchFamily="49" charset="0"/>
              </a:rPr>
              <a:t>pragma solidity </a:t>
            </a:r>
            <a:r>
              <a:rPr sz="1600" dirty="0">
                <a:latin typeface="Consolas" panose="020B0609020204030204" pitchFamily="49" charset="0"/>
              </a:rPr>
              <a:t>^0.</a:t>
            </a:r>
            <a:r>
              <a:rPr lang="en-US" sz="1600" dirty="0">
                <a:latin typeface="Consolas" panose="020B0609020204030204" pitchFamily="49" charset="0"/>
              </a:rPr>
              <a:t>7</a:t>
            </a:r>
            <a:r>
              <a:rPr sz="1600" dirty="0">
                <a:latin typeface="Consolas" panose="020B0609020204030204" pitchFamily="49" charset="0"/>
              </a:rPr>
              <a:t>.0;</a:t>
            </a:r>
          </a:p>
          <a:p>
            <a:endParaRPr sz="1600" dirty="0">
              <a:latin typeface="Consolas" panose="020B0609020204030204" pitchFamily="49" charset="0"/>
            </a:endParaRPr>
          </a:p>
          <a:p>
            <a:pPr marL="36900" indent="0">
              <a:buNone/>
            </a:pPr>
            <a:r>
              <a:rPr sz="1600" dirty="0">
                <a:solidFill>
                  <a:srgbClr val="0070C0"/>
                </a:solidFill>
                <a:latin typeface="Consolas" panose="020B0609020204030204" pitchFamily="49" charset="0"/>
              </a:rPr>
              <a:t>contract</a:t>
            </a:r>
            <a:r>
              <a:rPr sz="1600" dirty="0">
                <a:latin typeface="Consolas" panose="020B0609020204030204" pitchFamily="49" charset="0"/>
              </a:rPr>
              <a:t> Album {</a:t>
            </a:r>
          </a:p>
          <a:p>
            <a:pPr marL="36900" indent="0">
              <a:buNone/>
            </a:pPr>
            <a:r>
              <a:rPr sz="1600" dirty="0">
                <a:latin typeface="Consolas" panose="020B0609020204030204" pitchFamily="49" charset="0"/>
              </a:rPr>
              <a:t>    </a:t>
            </a:r>
            <a:r>
              <a:rPr sz="1600" dirty="0">
                <a:solidFill>
                  <a:srgbClr val="0070C0"/>
                </a:solidFill>
                <a:latin typeface="Consolas" panose="020B0609020204030204" pitchFamily="49" charset="0"/>
              </a:rPr>
              <a:t>string</a:t>
            </a:r>
            <a:r>
              <a:rPr sz="1600" dirty="0">
                <a:latin typeface="Consolas" panose="020B0609020204030204" pitchFamily="49" charset="0"/>
              </a:rPr>
              <a:t> </a:t>
            </a:r>
            <a:r>
              <a:rPr sz="1600" dirty="0">
                <a:solidFill>
                  <a:srgbClr val="00B050"/>
                </a:solidFill>
                <a:latin typeface="Consolas" panose="020B0609020204030204" pitchFamily="49" charset="0"/>
              </a:rPr>
              <a:t>public</a:t>
            </a:r>
            <a:r>
              <a:rPr sz="1600" dirty="0">
                <a:latin typeface="Consolas" panose="020B0609020204030204" pitchFamily="49" charset="0"/>
              </a:rPr>
              <a:t> artist;</a:t>
            </a:r>
          </a:p>
          <a:p>
            <a:pPr marL="36900" indent="0">
              <a:buNone/>
            </a:pPr>
            <a:r>
              <a:rPr sz="1600" dirty="0">
                <a:latin typeface="Consolas" panose="020B0609020204030204" pitchFamily="49" charset="0"/>
              </a:rPr>
              <a:t>    </a:t>
            </a:r>
            <a:r>
              <a:rPr sz="1600" dirty="0">
                <a:solidFill>
                  <a:srgbClr val="0070C0"/>
                </a:solidFill>
                <a:latin typeface="Consolas" panose="020B0609020204030204" pitchFamily="49" charset="0"/>
              </a:rPr>
              <a:t>string</a:t>
            </a:r>
            <a:r>
              <a:rPr sz="1600" dirty="0">
                <a:latin typeface="Consolas" panose="020B0609020204030204" pitchFamily="49" charset="0"/>
              </a:rPr>
              <a:t> </a:t>
            </a:r>
            <a:r>
              <a:rPr sz="1600" dirty="0">
                <a:solidFill>
                  <a:srgbClr val="00B050"/>
                </a:solidFill>
                <a:latin typeface="Consolas" panose="020B0609020204030204" pitchFamily="49" charset="0"/>
              </a:rPr>
              <a:t>public</a:t>
            </a:r>
            <a:r>
              <a:rPr sz="1600" dirty="0">
                <a:latin typeface="Consolas" panose="020B0609020204030204" pitchFamily="49" charset="0"/>
              </a:rPr>
              <a:t> </a:t>
            </a:r>
            <a:r>
              <a:rPr sz="1600" dirty="0" err="1">
                <a:latin typeface="Consolas" panose="020B0609020204030204" pitchFamily="49" charset="0"/>
              </a:rPr>
              <a:t>albumTitle</a:t>
            </a:r>
            <a:r>
              <a:rPr sz="1600" dirty="0">
                <a:latin typeface="Consolas" panose="020B0609020204030204" pitchFamily="49" charset="0"/>
              </a:rPr>
              <a:t>;</a:t>
            </a:r>
          </a:p>
          <a:p>
            <a:pPr marL="3690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sz="1600" dirty="0">
                <a:latin typeface="Consolas" panose="020B0609020204030204" pitchFamily="49" charset="0"/>
              </a:rPr>
              <a:t>   </a:t>
            </a:r>
            <a:r>
              <a:rPr sz="1600" dirty="0">
                <a:solidFill>
                  <a:srgbClr val="0070C0"/>
                </a:solidFill>
                <a:latin typeface="Consolas" panose="020B0609020204030204" pitchFamily="49" charset="0"/>
              </a:rPr>
              <a:t>uint</a:t>
            </a:r>
            <a:r>
              <a:rPr sz="1600" dirty="0">
                <a:latin typeface="Consolas" panose="020B0609020204030204" pitchFamily="49" charset="0"/>
              </a:rPr>
              <a:t> </a:t>
            </a:r>
            <a:r>
              <a:rPr sz="1600" dirty="0">
                <a:solidFill>
                  <a:srgbClr val="00B050"/>
                </a:solidFill>
                <a:latin typeface="Consolas" panose="020B0609020204030204" pitchFamily="49" charset="0"/>
              </a:rPr>
              <a:t>public</a:t>
            </a:r>
            <a:r>
              <a:rPr sz="1600" dirty="0">
                <a:latin typeface="Consolas" panose="020B0609020204030204" pitchFamily="49" charset="0"/>
              </a:rPr>
              <a:t> tracks;</a:t>
            </a:r>
          </a:p>
          <a:p>
            <a:pPr marL="3690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	</a:t>
            </a:r>
            <a:r>
              <a:rPr sz="1600" dirty="0"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2E7A1B7-5AD7-4453-9FE1-313E4CD8FA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7698" y="5648098"/>
            <a:ext cx="1226634" cy="74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184A0BC8-CB0F-8922-FF40-B444B1DA5DAF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512956" y="6023036"/>
            <a:ext cx="7084742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043C7B6-EBE7-8A9E-B304-7EF88B83F64E}"/>
              </a:ext>
            </a:extLst>
          </p:cNvPr>
          <p:cNvSpPr txBox="1"/>
          <p:nvPr/>
        </p:nvSpPr>
        <p:spPr>
          <a:xfrm>
            <a:off x="762000" y="2135963"/>
            <a:ext cx="4219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First, we </a:t>
            </a:r>
            <a:r>
              <a:rPr lang="en-US" dirty="0">
                <a:solidFill>
                  <a:schemeClr val="accent1"/>
                </a:solidFill>
              </a:rPr>
              <a:t>create a new SC </a:t>
            </a:r>
            <a:r>
              <a:rPr lang="en-US" dirty="0"/>
              <a:t>named “</a:t>
            </a:r>
            <a:r>
              <a:rPr lang="en-US" i="1" dirty="0"/>
              <a:t>Album.sol</a:t>
            </a:r>
            <a:r>
              <a:rPr lang="en-US" dirty="0"/>
              <a:t>” from the File Explorer tab</a:t>
            </a:r>
          </a:p>
        </p:txBody>
      </p:sp>
      <p:sp>
        <p:nvSpPr>
          <p:cNvPr id="7" name="Ορθογώνιο 6">
            <a:extLst>
              <a:ext uri="{FF2B5EF4-FFF2-40B4-BE49-F238E27FC236}">
                <a16:creationId xmlns:a16="http://schemas.microsoft.com/office/drawing/2014/main" id="{706BD8DA-04A9-1786-753C-BF6ED8BFBB8A}"/>
              </a:ext>
            </a:extLst>
          </p:cNvPr>
          <p:cNvSpPr/>
          <p:nvPr/>
        </p:nvSpPr>
        <p:spPr>
          <a:xfrm>
            <a:off x="481240" y="2248284"/>
            <a:ext cx="190500" cy="2108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Ορθογώνιο 7">
            <a:extLst>
              <a:ext uri="{FF2B5EF4-FFF2-40B4-BE49-F238E27FC236}">
                <a16:creationId xmlns:a16="http://schemas.microsoft.com/office/drawing/2014/main" id="{8D3A271C-F3A4-A055-42C4-620423C2518E}"/>
              </a:ext>
            </a:extLst>
          </p:cNvPr>
          <p:cNvSpPr/>
          <p:nvPr/>
        </p:nvSpPr>
        <p:spPr>
          <a:xfrm>
            <a:off x="475796" y="3323578"/>
            <a:ext cx="190500" cy="2108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9643AD-5AA4-8933-E9B3-FC71411701F8}"/>
              </a:ext>
            </a:extLst>
          </p:cNvPr>
          <p:cNvSpPr txBox="1"/>
          <p:nvPr/>
        </p:nvSpPr>
        <p:spPr>
          <a:xfrm>
            <a:off x="761999" y="3236720"/>
            <a:ext cx="42195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Then we </a:t>
            </a:r>
            <a:r>
              <a:rPr lang="en-US" dirty="0">
                <a:solidFill>
                  <a:schemeClr val="accent1"/>
                </a:solidFill>
              </a:rPr>
              <a:t>add variables</a:t>
            </a:r>
            <a:r>
              <a:rPr lang="en-US" dirty="0"/>
              <a:t>. We assume there are three critical properties of an album that should be tracked:</a:t>
            </a:r>
          </a:p>
          <a:p>
            <a:pPr marL="447675" indent="-285750">
              <a:buFontTx/>
              <a:buChar char="-"/>
            </a:pPr>
            <a:r>
              <a:rPr lang="en-US" i="1" dirty="0"/>
              <a:t>The artist or group </a:t>
            </a:r>
          </a:p>
          <a:p>
            <a:pPr marL="447675" indent="-285750">
              <a:buFontTx/>
              <a:buChar char="-"/>
            </a:pPr>
            <a:r>
              <a:rPr lang="en-US" i="1" dirty="0"/>
              <a:t>The title of the album</a:t>
            </a:r>
          </a:p>
          <a:p>
            <a:pPr marL="447675" indent="-285750">
              <a:buFontTx/>
              <a:buChar char="-"/>
            </a:pPr>
            <a:r>
              <a:rPr lang="en-US" i="1" dirty="0"/>
              <a:t>The number of tracks on the album</a:t>
            </a:r>
          </a:p>
        </p:txBody>
      </p:sp>
      <p:pic>
        <p:nvPicPr>
          <p:cNvPr id="10" name="Εικόνα 9">
            <a:extLst>
              <a:ext uri="{FF2B5EF4-FFF2-40B4-BE49-F238E27FC236}">
                <a16:creationId xmlns:a16="http://schemas.microsoft.com/office/drawing/2014/main" id="{56DF08FC-B336-010E-0D0E-C10FBBB97F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4326" y="3990990"/>
            <a:ext cx="2810313" cy="157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753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Types of Variables in Solidity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732450"/>
            <a:ext cx="7765322" cy="45159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We need to “</a:t>
            </a:r>
            <a:r>
              <a:rPr lang="en-US" u="sng" dirty="0"/>
              <a:t>characterize</a:t>
            </a:r>
            <a:r>
              <a:rPr lang="en-US" dirty="0"/>
              <a:t>” each variable that we use depending on the use purpose:</a:t>
            </a:r>
          </a:p>
          <a:p>
            <a:pPr marL="885825" indent="-342900">
              <a:buFontTx/>
              <a:buChar char="-"/>
            </a:pPr>
            <a:r>
              <a:rPr lang="en-US" dirty="0">
                <a:solidFill>
                  <a:srgbClr val="0070C0"/>
                </a:solidFill>
              </a:rPr>
              <a:t>bool</a:t>
            </a:r>
            <a:r>
              <a:rPr lang="en-US" dirty="0"/>
              <a:t>: </a:t>
            </a:r>
            <a:r>
              <a:rPr lang="en-US" sz="1800" i="1" dirty="0"/>
              <a:t>This is a Boolean type that returns True or False. </a:t>
            </a:r>
          </a:p>
          <a:p>
            <a:pPr marL="828675" indent="-285750">
              <a:buFontTx/>
              <a:buChar char="-"/>
            </a:pPr>
            <a:r>
              <a:rPr lang="en-US" dirty="0">
                <a:solidFill>
                  <a:srgbClr val="0070C0"/>
                </a:solidFill>
              </a:rPr>
              <a:t>int/uint</a:t>
            </a:r>
            <a:r>
              <a:rPr lang="en-US" dirty="0">
                <a:solidFill>
                  <a:schemeClr val="tx1"/>
                </a:solidFill>
              </a:rPr>
              <a:t>:</a:t>
            </a:r>
            <a:r>
              <a:rPr lang="en-US" sz="1800" i="1" dirty="0"/>
              <a:t> Both </a:t>
            </a:r>
            <a:r>
              <a:rPr lang="en-US" sz="1800" i="1" dirty="0">
                <a:solidFill>
                  <a:srgbClr val="0070C0"/>
                </a:solidFill>
              </a:rPr>
              <a:t>int</a:t>
            </a:r>
            <a:r>
              <a:rPr lang="en-US" sz="1800" i="1" dirty="0"/>
              <a:t> and </a:t>
            </a:r>
            <a:r>
              <a:rPr lang="en-US" sz="1800" i="1" dirty="0">
                <a:solidFill>
                  <a:srgbClr val="0070C0"/>
                </a:solidFill>
              </a:rPr>
              <a:t>uint</a:t>
            </a:r>
            <a:r>
              <a:rPr lang="en-US" sz="1800" i="1" dirty="0"/>
              <a:t> represent integers or number values. The main difference is that integer can hold negative numbers as values. </a:t>
            </a:r>
          </a:p>
          <a:p>
            <a:pPr marL="828675" indent="-285750">
              <a:buFontTx/>
              <a:buChar char="-"/>
            </a:pPr>
            <a:r>
              <a:rPr lang="en-US" dirty="0">
                <a:solidFill>
                  <a:srgbClr val="0070C0"/>
                </a:solidFill>
              </a:rPr>
              <a:t>address:</a:t>
            </a:r>
            <a:r>
              <a:rPr lang="en-US" sz="1800" i="1" dirty="0">
                <a:solidFill>
                  <a:schemeClr val="tx1"/>
                </a:solidFill>
                <a:effectLst/>
              </a:rPr>
              <a:t> The address type represents a 20byte value, which is meant to store an Ethereum address.</a:t>
            </a:r>
            <a:r>
              <a:rPr lang="en-US" sz="1800" i="1" dirty="0"/>
              <a:t> </a:t>
            </a:r>
          </a:p>
          <a:p>
            <a:pPr marL="828675" indent="-285750">
              <a:buFontTx/>
              <a:buChar char="-"/>
            </a:pPr>
            <a:r>
              <a:rPr lang="en-US" dirty="0">
                <a:solidFill>
                  <a:srgbClr val="0070C0"/>
                </a:solidFill>
              </a:rPr>
              <a:t>string</a:t>
            </a:r>
            <a:r>
              <a:rPr lang="en-US" sz="1800" i="1" dirty="0"/>
              <a:t>: a dynamically signed string (alpha-numeric)</a:t>
            </a:r>
          </a:p>
          <a:p>
            <a:pPr marL="828675" indent="-285750">
              <a:buFontTx/>
              <a:buChar char="-"/>
            </a:pPr>
            <a:r>
              <a:rPr lang="en-US" dirty="0">
                <a:solidFill>
                  <a:srgbClr val="0070C0"/>
                </a:solidFill>
              </a:rPr>
              <a:t>mapping</a:t>
            </a:r>
            <a:r>
              <a:rPr lang="en-US" sz="1800" i="1" dirty="0"/>
              <a:t>: Hash tables with key types and values types.</a:t>
            </a:r>
          </a:p>
          <a:p>
            <a:pPr marL="828675" indent="-285750">
              <a:buFontTx/>
              <a:buChar char="-"/>
            </a:pPr>
            <a:r>
              <a:rPr lang="en-US" dirty="0">
                <a:solidFill>
                  <a:srgbClr val="0070C0"/>
                </a:solidFill>
              </a:rPr>
              <a:t>struct</a:t>
            </a:r>
            <a:r>
              <a:rPr lang="en-US" sz="1800" i="1" dirty="0"/>
              <a:t>: structs allows us to define new types (objects that contain multiple variables)</a:t>
            </a:r>
          </a:p>
          <a:p>
            <a:pPr marL="828675" indent="-285750">
              <a:buFontTx/>
              <a:buChar char="-"/>
            </a:pPr>
            <a:r>
              <a:rPr lang="en-US" sz="2200" dirty="0">
                <a:solidFill>
                  <a:srgbClr val="0070C0"/>
                </a:solidFill>
              </a:rPr>
              <a:t>bytes</a:t>
            </a:r>
            <a:r>
              <a:rPr lang="en-US" sz="1800" i="1" dirty="0"/>
              <a:t>: A dynamically-sixed array </a:t>
            </a:r>
            <a:endParaRPr lang="en-US" i="1" dirty="0"/>
          </a:p>
          <a:p>
            <a:pPr marL="36900" indent="0">
              <a:buNone/>
            </a:pPr>
            <a:endParaRPr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D7CDB62-6BAD-CFDC-715E-8258BAB939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7698" y="5648098"/>
            <a:ext cx="1226634" cy="74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BCEEB2C8-996F-121A-59F9-AB4428306927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512956" y="6023036"/>
            <a:ext cx="7084742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852A7-8393-532D-73A7-8C6ED9A97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29275-A7F6-DE8C-84E0-AA7EEFFCC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Visibility Specifiers in Solidity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B6900-455D-3483-D474-A866299C8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346" y="1732450"/>
            <a:ext cx="7765322" cy="4515950"/>
          </a:xfrm>
        </p:spPr>
        <p:txBody>
          <a:bodyPr>
            <a:normAutofit/>
          </a:bodyPr>
          <a:lstStyle/>
          <a:p>
            <a:r>
              <a:rPr lang="en-US" dirty="0"/>
              <a:t>Solidity has four types of visibilities for both functions and variables:</a:t>
            </a:r>
          </a:p>
          <a:p>
            <a:pPr marL="885825" indent="-342900">
              <a:buFontTx/>
              <a:buChar char="-"/>
            </a:pPr>
            <a:r>
              <a:rPr lang="en-US" dirty="0">
                <a:solidFill>
                  <a:srgbClr val="00B050"/>
                </a:solidFill>
              </a:rPr>
              <a:t>public</a:t>
            </a:r>
            <a:r>
              <a:rPr lang="en-US" dirty="0"/>
              <a:t>: </a:t>
            </a:r>
            <a:r>
              <a:rPr lang="en-US" sz="1800" i="1" dirty="0"/>
              <a:t>This allows you to define functions or variables that can be called internally or through messages. </a:t>
            </a:r>
            <a:r>
              <a:rPr lang="en-US" sz="1800" dirty="0"/>
              <a:t>[</a:t>
            </a:r>
            <a:r>
              <a:rPr lang="en-US" sz="1800" u="sng" dirty="0">
                <a:solidFill>
                  <a:schemeClr val="accent1"/>
                </a:solidFill>
              </a:rPr>
              <a:t>Visible to everyone</a:t>
            </a:r>
            <a:r>
              <a:rPr lang="en-US" sz="1800" dirty="0"/>
              <a:t>]</a:t>
            </a:r>
          </a:p>
          <a:p>
            <a:pPr marL="828675" indent="-285750">
              <a:buFontTx/>
              <a:buChar char="-"/>
            </a:pPr>
            <a:r>
              <a:rPr lang="en-US" dirty="0">
                <a:solidFill>
                  <a:srgbClr val="00B050"/>
                </a:solidFill>
              </a:rPr>
              <a:t>private</a:t>
            </a:r>
            <a:r>
              <a:rPr lang="en-US" dirty="0">
                <a:solidFill>
                  <a:schemeClr val="tx1"/>
                </a:solidFill>
              </a:rPr>
              <a:t>:</a:t>
            </a:r>
            <a:r>
              <a:rPr lang="en-US" sz="1800" i="1" dirty="0"/>
              <a:t> private variables and functions are only available to the current contract and not the derived contracts. </a:t>
            </a:r>
            <a:r>
              <a:rPr lang="en-US" sz="1800" dirty="0"/>
              <a:t>[</a:t>
            </a:r>
            <a:r>
              <a:rPr lang="en-US" sz="1800" u="sng" dirty="0">
                <a:solidFill>
                  <a:schemeClr val="accent1"/>
                </a:solidFill>
              </a:rPr>
              <a:t>Visible only inside the current contract</a:t>
            </a:r>
            <a:r>
              <a:rPr lang="en-US" sz="1800" dirty="0"/>
              <a:t>]</a:t>
            </a:r>
            <a:endParaRPr lang="en-US" sz="1800" i="1" dirty="0"/>
          </a:p>
          <a:p>
            <a:pPr marL="828675" indent="-285750">
              <a:buFontTx/>
              <a:buChar char="-"/>
            </a:pPr>
            <a:r>
              <a:rPr lang="en-US" dirty="0">
                <a:solidFill>
                  <a:srgbClr val="00B050"/>
                </a:solidFill>
              </a:rPr>
              <a:t>internal</a:t>
            </a:r>
            <a:r>
              <a:rPr lang="en-US" dirty="0">
                <a:solidFill>
                  <a:srgbClr val="0070C0"/>
                </a:solidFill>
              </a:rPr>
              <a:t>:</a:t>
            </a:r>
            <a:r>
              <a:rPr lang="en-US" sz="1800" i="1" dirty="0">
                <a:solidFill>
                  <a:schemeClr val="tx1"/>
                </a:solidFill>
                <a:effectLst/>
              </a:rPr>
              <a:t> Functions and variables that can only be accessed internally (current contract and derived).</a:t>
            </a:r>
            <a:r>
              <a:rPr lang="en-US" sz="1800" i="1" dirty="0"/>
              <a:t> </a:t>
            </a:r>
            <a:r>
              <a:rPr lang="en-US" sz="1800" dirty="0"/>
              <a:t>[</a:t>
            </a:r>
            <a:r>
              <a:rPr lang="en-US" sz="1800" u="sng" dirty="0">
                <a:solidFill>
                  <a:schemeClr val="accent1"/>
                </a:solidFill>
              </a:rPr>
              <a:t>Visible only inside the current contract and the ones that inherit</a:t>
            </a:r>
            <a:r>
              <a:rPr lang="en-US" sz="1800" dirty="0"/>
              <a:t>]</a:t>
            </a:r>
            <a:endParaRPr lang="en-US" sz="1800" i="1" dirty="0"/>
          </a:p>
          <a:p>
            <a:pPr marL="828675" indent="-285750">
              <a:buFontTx/>
              <a:buChar char="-"/>
            </a:pPr>
            <a:r>
              <a:rPr lang="en-US" dirty="0">
                <a:solidFill>
                  <a:srgbClr val="00B050"/>
                </a:solidFill>
              </a:rPr>
              <a:t>external</a:t>
            </a:r>
            <a:r>
              <a:rPr lang="en-US" sz="1800" i="1" dirty="0"/>
              <a:t>: functions that can be called from other contracts and transactions. They cannot be called internally, except with “</a:t>
            </a:r>
            <a:r>
              <a:rPr lang="en-US" sz="1800" i="1" dirty="0" err="1"/>
              <a:t>this.functionName</a:t>
            </a:r>
            <a:r>
              <a:rPr lang="en-US" sz="1800" i="1" dirty="0"/>
              <a:t>()”</a:t>
            </a:r>
          </a:p>
          <a:p>
            <a:pPr marL="36900" indent="0">
              <a:buNone/>
            </a:pPr>
            <a:endParaRPr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23E357B-BC1C-DF0E-4347-D312344691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7698" y="5648098"/>
            <a:ext cx="1226634" cy="74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6926E4E2-BB27-9936-7DF2-27E798167D19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512956" y="6023036"/>
            <a:ext cx="7084742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9702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Compile &amp; Deploy “</a:t>
            </a:r>
            <a:r>
              <a:rPr lang="en-US" i="1" dirty="0">
                <a:solidFill>
                  <a:srgbClr val="FFC000"/>
                </a:solidFill>
              </a:rPr>
              <a:t>Album.sol”</a:t>
            </a:r>
            <a:endParaRPr i="1" dirty="0">
              <a:solidFill>
                <a:srgbClr val="FFC000"/>
              </a:solidFill>
            </a:endParaRPr>
          </a:p>
        </p:txBody>
      </p:sp>
      <p:pic>
        <p:nvPicPr>
          <p:cNvPr id="6" name="Εικόνα 5">
            <a:extLst>
              <a:ext uri="{FF2B5EF4-FFF2-40B4-BE49-F238E27FC236}">
                <a16:creationId xmlns:a16="http://schemas.microsoft.com/office/drawing/2014/main" id="{BA3E88A1-A619-827C-71CC-C802BCC740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332" y="1580050"/>
            <a:ext cx="3810919" cy="3457048"/>
          </a:xfrm>
          <a:prstGeom prst="rect">
            <a:avLst/>
          </a:prstGeom>
        </p:spPr>
      </p:pic>
      <p:pic>
        <p:nvPicPr>
          <p:cNvPr id="7" name="Εικόνα 6">
            <a:extLst>
              <a:ext uri="{FF2B5EF4-FFF2-40B4-BE49-F238E27FC236}">
                <a16:creationId xmlns:a16="http://schemas.microsoft.com/office/drawing/2014/main" id="{30E86639-F40F-BB34-9975-96D3069E09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9550" y="1578460"/>
            <a:ext cx="2575819" cy="3458638"/>
          </a:xfrm>
          <a:prstGeom prst="rect">
            <a:avLst/>
          </a:prstGeom>
        </p:spPr>
      </p:pic>
      <p:cxnSp>
        <p:nvCxnSpPr>
          <p:cNvPr id="8" name="Ευθύγραμμο βέλος σύνδεσης 7">
            <a:extLst>
              <a:ext uri="{FF2B5EF4-FFF2-40B4-BE49-F238E27FC236}">
                <a16:creationId xmlns:a16="http://schemas.microsoft.com/office/drawing/2014/main" id="{67CF68BD-F041-6D69-E643-0113DEA65C03}"/>
              </a:ext>
            </a:extLst>
          </p:cNvPr>
          <p:cNvCxnSpPr>
            <a:cxnSpLocks/>
          </p:cNvCxnSpPr>
          <p:nvPr/>
        </p:nvCxnSpPr>
        <p:spPr>
          <a:xfrm>
            <a:off x="588319" y="2114550"/>
            <a:ext cx="194054" cy="1726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Ευθύγραμμο βέλος σύνδεσης 9">
            <a:extLst>
              <a:ext uri="{FF2B5EF4-FFF2-40B4-BE49-F238E27FC236}">
                <a16:creationId xmlns:a16="http://schemas.microsoft.com/office/drawing/2014/main" id="{3BDECF72-1F29-3ED3-B896-4160A8E3EDBB}"/>
              </a:ext>
            </a:extLst>
          </p:cNvPr>
          <p:cNvCxnSpPr>
            <a:cxnSpLocks/>
          </p:cNvCxnSpPr>
          <p:nvPr/>
        </p:nvCxnSpPr>
        <p:spPr>
          <a:xfrm>
            <a:off x="840846" y="3342671"/>
            <a:ext cx="194054" cy="1726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>
            <a:extLst>
              <a:ext uri="{FF2B5EF4-FFF2-40B4-BE49-F238E27FC236}">
                <a16:creationId xmlns:a16="http://schemas.microsoft.com/office/drawing/2014/main" id="{63A4A507-81EB-EDF1-1B03-E3FE1A26F6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7698" y="5648098"/>
            <a:ext cx="1226634" cy="74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Ευθεία γραμμή σύνδεσης 12">
            <a:extLst>
              <a:ext uri="{FF2B5EF4-FFF2-40B4-BE49-F238E27FC236}">
                <a16:creationId xmlns:a16="http://schemas.microsoft.com/office/drawing/2014/main" id="{46019E9C-7DA1-AA14-5E16-1D35A59CA29D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512956" y="6023036"/>
            <a:ext cx="7084742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ED17C-6A46-BA7E-AD5B-57A3F84AE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DC8E1-4EFC-DCBF-751F-9E067A8AE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Compile &amp; Deploy “</a:t>
            </a:r>
            <a:r>
              <a:rPr lang="en-US" i="1" dirty="0">
                <a:solidFill>
                  <a:srgbClr val="FFC000"/>
                </a:solidFill>
              </a:rPr>
              <a:t>Album.sol”</a:t>
            </a:r>
            <a:endParaRPr i="1" dirty="0">
              <a:solidFill>
                <a:srgbClr val="FFC000"/>
              </a:solidFill>
            </a:endParaRPr>
          </a:p>
        </p:txBody>
      </p:sp>
      <p:pic>
        <p:nvPicPr>
          <p:cNvPr id="3" name="Εικόνα 2">
            <a:extLst>
              <a:ext uri="{FF2B5EF4-FFF2-40B4-BE49-F238E27FC236}">
                <a16:creationId xmlns:a16="http://schemas.microsoft.com/office/drawing/2014/main" id="{35D92BE0-2BA5-49B5-F730-FFCD7E19E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9607" y="1513375"/>
            <a:ext cx="4936800" cy="4255118"/>
          </a:xfrm>
          <a:prstGeom prst="rect">
            <a:avLst/>
          </a:prstGeom>
        </p:spPr>
      </p:pic>
      <p:cxnSp>
        <p:nvCxnSpPr>
          <p:cNvPr id="10" name="Ευθύγραμμο βέλος σύνδεσης 9">
            <a:extLst>
              <a:ext uri="{FF2B5EF4-FFF2-40B4-BE49-F238E27FC236}">
                <a16:creationId xmlns:a16="http://schemas.microsoft.com/office/drawing/2014/main" id="{5ACF16B7-CD49-A4F7-7206-B9E8ED2B558B}"/>
              </a:ext>
            </a:extLst>
          </p:cNvPr>
          <p:cNvCxnSpPr>
            <a:cxnSpLocks/>
          </p:cNvCxnSpPr>
          <p:nvPr/>
        </p:nvCxnSpPr>
        <p:spPr>
          <a:xfrm>
            <a:off x="1904064" y="2028221"/>
            <a:ext cx="194054" cy="1726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Ευθύγραμμο βέλος σύνδεσης 7">
            <a:extLst>
              <a:ext uri="{FF2B5EF4-FFF2-40B4-BE49-F238E27FC236}">
                <a16:creationId xmlns:a16="http://schemas.microsoft.com/office/drawing/2014/main" id="{DA263424-0A31-7213-A918-DA80FA1FFDB7}"/>
              </a:ext>
            </a:extLst>
          </p:cNvPr>
          <p:cNvCxnSpPr>
            <a:cxnSpLocks/>
          </p:cNvCxnSpPr>
          <p:nvPr/>
        </p:nvCxnSpPr>
        <p:spPr>
          <a:xfrm>
            <a:off x="2284273" y="3989379"/>
            <a:ext cx="194054" cy="1726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Ευθύγραμμο βέλος σύνδεσης 3">
            <a:extLst>
              <a:ext uri="{FF2B5EF4-FFF2-40B4-BE49-F238E27FC236}">
                <a16:creationId xmlns:a16="http://schemas.microsoft.com/office/drawing/2014/main" id="{B5EAF0A7-4D7D-2437-A459-9EEE50C6A3F9}"/>
              </a:ext>
            </a:extLst>
          </p:cNvPr>
          <p:cNvCxnSpPr>
            <a:cxnSpLocks/>
          </p:cNvCxnSpPr>
          <p:nvPr/>
        </p:nvCxnSpPr>
        <p:spPr>
          <a:xfrm>
            <a:off x="2284273" y="3085604"/>
            <a:ext cx="194054" cy="1726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>
            <a:extLst>
              <a:ext uri="{FF2B5EF4-FFF2-40B4-BE49-F238E27FC236}">
                <a16:creationId xmlns:a16="http://schemas.microsoft.com/office/drawing/2014/main" id="{29809306-3098-9376-D73E-899FFC00DC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7698" y="5648098"/>
            <a:ext cx="1226634" cy="74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Ευθεία γραμμή σύνδεσης 8">
            <a:extLst>
              <a:ext uri="{FF2B5EF4-FFF2-40B4-BE49-F238E27FC236}">
                <a16:creationId xmlns:a16="http://schemas.microsoft.com/office/drawing/2014/main" id="{36D4BA24-8125-6A1B-2D94-E717133244DE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512956" y="6023036"/>
            <a:ext cx="7084742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6737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Change variable visibility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Append the “public” scope modifier to the </a:t>
            </a:r>
            <a:r>
              <a:rPr lang="en-US" i="1" dirty="0"/>
              <a:t>artist</a:t>
            </a:r>
            <a:r>
              <a:rPr lang="en-US" dirty="0"/>
              <a:t>, </a:t>
            </a:r>
            <a:r>
              <a:rPr lang="en-US" i="1" dirty="0" err="1"/>
              <a:t>albumTitle</a:t>
            </a:r>
            <a:r>
              <a:rPr lang="en-US" dirty="0"/>
              <a:t> and </a:t>
            </a:r>
            <a:r>
              <a:rPr lang="en-US" i="1" dirty="0"/>
              <a:t>tracks</a:t>
            </a:r>
            <a:r>
              <a:rPr lang="en-US" dirty="0"/>
              <a:t> variables </a:t>
            </a:r>
            <a:endParaRPr dirty="0"/>
          </a:p>
        </p:txBody>
      </p:sp>
      <p:pic>
        <p:nvPicPr>
          <p:cNvPr id="4" name="Εικόνα 3">
            <a:extLst>
              <a:ext uri="{FF2B5EF4-FFF2-40B4-BE49-F238E27FC236}">
                <a16:creationId xmlns:a16="http://schemas.microsoft.com/office/drawing/2014/main" id="{86680C33-C34F-2CDC-C41A-5B0B72FD17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879" y="2641588"/>
            <a:ext cx="4244708" cy="2240474"/>
          </a:xfrm>
          <a:prstGeom prst="rect">
            <a:avLst/>
          </a:prstGeom>
        </p:spPr>
      </p:pic>
      <p:pic>
        <p:nvPicPr>
          <p:cNvPr id="5" name="Εικόνα 4">
            <a:extLst>
              <a:ext uri="{FF2B5EF4-FFF2-40B4-BE49-F238E27FC236}">
                <a16:creationId xmlns:a16="http://schemas.microsoft.com/office/drawing/2014/main" id="{D352CC79-6A2F-AE10-03F8-BE5CFED7BB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790" y="2641588"/>
            <a:ext cx="2017878" cy="2288432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72D4E269-EE73-7197-1101-92107CFAD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7698" y="5648098"/>
            <a:ext cx="1226634" cy="74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Ευθεία γραμμή σύνδεσης 6">
            <a:extLst>
              <a:ext uri="{FF2B5EF4-FFF2-40B4-BE49-F238E27FC236}">
                <a16:creationId xmlns:a16="http://schemas.microsoft.com/office/drawing/2014/main" id="{D7F38D97-DD0E-A443-EDB3-B9A31812941F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512956" y="6023036"/>
            <a:ext cx="7084742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C000"/>
                </a:solidFill>
              </a:rPr>
              <a:t>Adding a Constructor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Add a </a:t>
            </a:r>
            <a:r>
              <a:rPr i="1" dirty="0">
                <a:solidFill>
                  <a:srgbClr val="F266CA"/>
                </a:solidFill>
              </a:rPr>
              <a:t>constructor</a:t>
            </a:r>
            <a:r>
              <a:rPr dirty="0"/>
              <a:t> to initialize the album data when the contract is deployed:</a:t>
            </a:r>
          </a:p>
          <a:p>
            <a:pPr marL="36900" indent="0">
              <a:buNone/>
            </a:pPr>
            <a:endParaRPr dirty="0"/>
          </a:p>
        </p:txBody>
      </p:sp>
      <p:pic>
        <p:nvPicPr>
          <p:cNvPr id="5" name="Εικόνα 4">
            <a:extLst>
              <a:ext uri="{FF2B5EF4-FFF2-40B4-BE49-F238E27FC236}">
                <a16:creationId xmlns:a16="http://schemas.microsoft.com/office/drawing/2014/main" id="{A4731DB7-6EDD-5049-D4A1-E9AE67705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7120" y="2450480"/>
            <a:ext cx="3651623" cy="3197618"/>
          </a:xfrm>
          <a:prstGeom prst="rect">
            <a:avLst/>
          </a:prstGeom>
        </p:spPr>
      </p:pic>
      <p:sp>
        <p:nvSpPr>
          <p:cNvPr id="6" name="Ορθογώνιο 5">
            <a:extLst>
              <a:ext uri="{FF2B5EF4-FFF2-40B4-BE49-F238E27FC236}">
                <a16:creationId xmlns:a16="http://schemas.microsoft.com/office/drawing/2014/main" id="{EF877A2D-F1BF-9888-2B87-BB59DCE56760}"/>
              </a:ext>
            </a:extLst>
          </p:cNvPr>
          <p:cNvSpPr/>
          <p:nvPr/>
        </p:nvSpPr>
        <p:spPr>
          <a:xfrm>
            <a:off x="5000625" y="4649819"/>
            <a:ext cx="2171700" cy="838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FD7999-D8A7-1B6C-7085-3528F332AC2F}"/>
              </a:ext>
            </a:extLst>
          </p:cNvPr>
          <p:cNvSpPr txBox="1"/>
          <p:nvPr/>
        </p:nvSpPr>
        <p:spPr>
          <a:xfrm>
            <a:off x="1199012" y="3471015"/>
            <a:ext cx="30863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Constructors are intended to contain any logic that should be performed once initially to ready the application usage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1FE2A86C-5678-9FF4-1AC1-88F85F72F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7698" y="5648098"/>
            <a:ext cx="1226634" cy="74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Ευθεία γραμμή σύνδεσης 8">
            <a:extLst>
              <a:ext uri="{FF2B5EF4-FFF2-40B4-BE49-F238E27FC236}">
                <a16:creationId xmlns:a16="http://schemas.microsoft.com/office/drawing/2014/main" id="{C1E0039D-04DA-0EE6-E5C1-69776A128647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512956" y="6023036"/>
            <a:ext cx="7084742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solidFill>
                  <a:srgbClr val="FFC000"/>
                </a:solidFill>
              </a:rPr>
              <a:t>Adding Getter and Setter Functions</a:t>
            </a:r>
          </a:p>
        </p:txBody>
      </p:sp>
      <p:pic>
        <p:nvPicPr>
          <p:cNvPr id="6" name="Εικόνα 5">
            <a:extLst>
              <a:ext uri="{FF2B5EF4-FFF2-40B4-BE49-F238E27FC236}">
                <a16:creationId xmlns:a16="http://schemas.microsoft.com/office/drawing/2014/main" id="{5F058089-3A31-9845-B344-56E930A17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581" y="2052536"/>
            <a:ext cx="4208369" cy="3500539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2D75E2E4-9FEC-66B9-AB61-00F962B487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7698" y="5648098"/>
            <a:ext cx="1226634" cy="74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Ευθεία γραμμή σύνδεσης 7">
            <a:extLst>
              <a:ext uri="{FF2B5EF4-FFF2-40B4-BE49-F238E27FC236}">
                <a16:creationId xmlns:a16="http://schemas.microsoft.com/office/drawing/2014/main" id="{949AD674-7239-F00B-8DCA-3CF125B8EAEB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512956" y="6023036"/>
            <a:ext cx="7084742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Ορθογώνιο 8">
            <a:extLst>
              <a:ext uri="{FF2B5EF4-FFF2-40B4-BE49-F238E27FC236}">
                <a16:creationId xmlns:a16="http://schemas.microsoft.com/office/drawing/2014/main" id="{079B23FA-49DC-6993-F3E9-BEFD0B6A5D67}"/>
              </a:ext>
            </a:extLst>
          </p:cNvPr>
          <p:cNvSpPr/>
          <p:nvPr/>
        </p:nvSpPr>
        <p:spPr>
          <a:xfrm>
            <a:off x="5067299" y="4125944"/>
            <a:ext cx="3476625" cy="5413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Ορθογώνιο 9">
            <a:extLst>
              <a:ext uri="{FF2B5EF4-FFF2-40B4-BE49-F238E27FC236}">
                <a16:creationId xmlns:a16="http://schemas.microsoft.com/office/drawing/2014/main" id="{543750B9-8E4C-90F1-1FBE-4F460A261741}"/>
              </a:ext>
            </a:extLst>
          </p:cNvPr>
          <p:cNvSpPr/>
          <p:nvPr/>
        </p:nvSpPr>
        <p:spPr>
          <a:xfrm>
            <a:off x="5067299" y="4712804"/>
            <a:ext cx="3834651" cy="6402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AD5D24-D47C-3CDD-4C97-70F5DA9870F0}"/>
              </a:ext>
            </a:extLst>
          </p:cNvPr>
          <p:cNvSpPr txBox="1"/>
          <p:nvPr/>
        </p:nvSpPr>
        <p:spPr>
          <a:xfrm>
            <a:off x="916081" y="2442181"/>
            <a:ext cx="34194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</a:t>
            </a:r>
            <a:r>
              <a:rPr lang="en-US" u="sng" dirty="0"/>
              <a:t>get function </a:t>
            </a:r>
            <a:r>
              <a:rPr lang="en-US" dirty="0"/>
              <a:t>(</a:t>
            </a:r>
            <a:r>
              <a:rPr lang="en-US" i="1" dirty="0" err="1">
                <a:solidFill>
                  <a:schemeClr val="accent1"/>
                </a:solidFill>
              </a:rPr>
              <a:t>getAlbum</a:t>
            </a:r>
            <a:r>
              <a:rPr lang="en-US" dirty="0"/>
              <a:t>) will return the current album information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2A90BB-FBB2-C6D3-EBB9-A200503896FE}"/>
              </a:ext>
            </a:extLst>
          </p:cNvPr>
          <p:cNvSpPr txBox="1"/>
          <p:nvPr/>
        </p:nvSpPr>
        <p:spPr>
          <a:xfrm>
            <a:off x="916081" y="3743920"/>
            <a:ext cx="34194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</a:t>
            </a:r>
            <a:r>
              <a:rPr lang="en-US" u="sng" dirty="0"/>
              <a:t>set function </a:t>
            </a:r>
            <a:r>
              <a:rPr lang="en-US" dirty="0"/>
              <a:t>(</a:t>
            </a:r>
            <a:r>
              <a:rPr lang="en-US" i="1" dirty="0" err="1">
                <a:solidFill>
                  <a:schemeClr val="accent1"/>
                </a:solidFill>
              </a:rPr>
              <a:t>setAlbum</a:t>
            </a:r>
            <a:r>
              <a:rPr lang="en-US" dirty="0"/>
              <a:t>) will allow the user to change the current album information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CD5A0-D694-DB9D-0A0C-1F8947CDE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ACA7B-BF64-466D-933D-A395F0BDB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Recompile and Deploy</a:t>
            </a:r>
            <a:endParaRPr dirty="0">
              <a:solidFill>
                <a:srgbClr val="FFC000"/>
              </a:solidFill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ED02CAD2-F012-3A5D-FA65-BFEEE3C220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7698" y="5648098"/>
            <a:ext cx="1226634" cy="74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Ευθεία γραμμή σύνδεσης 7">
            <a:extLst>
              <a:ext uri="{FF2B5EF4-FFF2-40B4-BE49-F238E27FC236}">
                <a16:creationId xmlns:a16="http://schemas.microsoft.com/office/drawing/2014/main" id="{75F1AF75-7578-E3E4-2DC1-26127E86831D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512956" y="6023036"/>
            <a:ext cx="7084742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Εικόνα 2">
            <a:extLst>
              <a:ext uri="{FF2B5EF4-FFF2-40B4-BE49-F238E27FC236}">
                <a16:creationId xmlns:a16="http://schemas.microsoft.com/office/drawing/2014/main" id="{47CAF381-86B2-5234-AD80-AA4D5D4E9B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9801" y="2541835"/>
            <a:ext cx="5676411" cy="3340049"/>
          </a:xfrm>
          <a:prstGeom prst="rect">
            <a:avLst/>
          </a:prstGeom>
        </p:spPr>
      </p:pic>
      <p:cxnSp>
        <p:nvCxnSpPr>
          <p:cNvPr id="4" name="Ευθύγραμμο βέλος σύνδεσης 3">
            <a:extLst>
              <a:ext uri="{FF2B5EF4-FFF2-40B4-BE49-F238E27FC236}">
                <a16:creationId xmlns:a16="http://schemas.microsoft.com/office/drawing/2014/main" id="{909AB5C2-0495-040C-4244-C0B3652AD8DD}"/>
              </a:ext>
            </a:extLst>
          </p:cNvPr>
          <p:cNvCxnSpPr>
            <a:cxnSpLocks/>
          </p:cNvCxnSpPr>
          <p:nvPr/>
        </p:nvCxnSpPr>
        <p:spPr>
          <a:xfrm flipH="1">
            <a:off x="2064087" y="2815879"/>
            <a:ext cx="243192" cy="2845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Ευθύγραμμο βέλος σύνδεσης 4">
            <a:extLst>
              <a:ext uri="{FF2B5EF4-FFF2-40B4-BE49-F238E27FC236}">
                <a16:creationId xmlns:a16="http://schemas.microsoft.com/office/drawing/2014/main" id="{0D7C2974-8D62-C648-D5C9-35E976705162}"/>
              </a:ext>
            </a:extLst>
          </p:cNvPr>
          <p:cNvCxnSpPr>
            <a:cxnSpLocks/>
          </p:cNvCxnSpPr>
          <p:nvPr/>
        </p:nvCxnSpPr>
        <p:spPr>
          <a:xfrm flipH="1">
            <a:off x="2261933" y="4354127"/>
            <a:ext cx="243192" cy="2845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Ευθύγραμμο βέλος σύνδεσης 12">
            <a:extLst>
              <a:ext uri="{FF2B5EF4-FFF2-40B4-BE49-F238E27FC236}">
                <a16:creationId xmlns:a16="http://schemas.microsoft.com/office/drawing/2014/main" id="{E6875E0D-409F-704D-DD8C-566598D46028}"/>
              </a:ext>
            </a:extLst>
          </p:cNvPr>
          <p:cNvCxnSpPr>
            <a:cxnSpLocks/>
          </p:cNvCxnSpPr>
          <p:nvPr/>
        </p:nvCxnSpPr>
        <p:spPr>
          <a:xfrm flipH="1">
            <a:off x="2641565" y="2815879"/>
            <a:ext cx="243192" cy="2845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Ευθύγραμμο βέλος σύνδεσης 13">
            <a:extLst>
              <a:ext uri="{FF2B5EF4-FFF2-40B4-BE49-F238E27FC236}">
                <a16:creationId xmlns:a16="http://schemas.microsoft.com/office/drawing/2014/main" id="{04879EA4-831A-2E72-ACA8-63F180C2046E}"/>
              </a:ext>
            </a:extLst>
          </p:cNvPr>
          <p:cNvCxnSpPr>
            <a:cxnSpLocks/>
          </p:cNvCxnSpPr>
          <p:nvPr/>
        </p:nvCxnSpPr>
        <p:spPr>
          <a:xfrm flipH="1">
            <a:off x="3476016" y="4891561"/>
            <a:ext cx="243192" cy="2845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Ευθύγραμμο βέλος σύνδεσης 14">
            <a:extLst>
              <a:ext uri="{FF2B5EF4-FFF2-40B4-BE49-F238E27FC236}">
                <a16:creationId xmlns:a16="http://schemas.microsoft.com/office/drawing/2014/main" id="{3C8D5383-D217-45A5-7D8E-E8B273D12FED}"/>
              </a:ext>
            </a:extLst>
          </p:cNvPr>
          <p:cNvCxnSpPr>
            <a:cxnSpLocks/>
          </p:cNvCxnSpPr>
          <p:nvPr/>
        </p:nvCxnSpPr>
        <p:spPr>
          <a:xfrm flipH="1">
            <a:off x="3483312" y="5363564"/>
            <a:ext cx="243192" cy="2845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A3D9B33-F077-0C24-B0D3-34216C3E5D14}"/>
              </a:ext>
            </a:extLst>
          </p:cNvPr>
          <p:cNvSpPr txBox="1"/>
          <p:nvPr/>
        </p:nvSpPr>
        <p:spPr>
          <a:xfrm>
            <a:off x="886366" y="1486303"/>
            <a:ext cx="73632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Recompile and redeploy the updated contract. Use the UI to call </a:t>
            </a:r>
            <a:r>
              <a:rPr lang="en-US" dirty="0" err="1"/>
              <a:t>getAlbum</a:t>
            </a:r>
            <a:r>
              <a:rPr lang="en-US" dirty="0"/>
              <a:t>() and </a:t>
            </a:r>
            <a:r>
              <a:rPr lang="en-US" dirty="0" err="1"/>
              <a:t>setAlbum</a:t>
            </a:r>
            <a:r>
              <a:rPr lang="en-US" dirty="0"/>
              <a:t>() to verify behavior.</a:t>
            </a:r>
          </a:p>
        </p:txBody>
      </p:sp>
    </p:spTree>
    <p:extLst>
      <p:ext uri="{BB962C8B-B14F-4D97-AF65-F5344CB8AC3E}">
        <p14:creationId xmlns:p14="http://schemas.microsoft.com/office/powerpoint/2010/main" val="21611001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C000"/>
                </a:solidFill>
              </a:rPr>
              <a:t>Adding </a:t>
            </a:r>
            <a:r>
              <a:rPr lang="en-US" dirty="0">
                <a:solidFill>
                  <a:srgbClr val="FFC000"/>
                </a:solidFill>
              </a:rPr>
              <a:t>and Raising </a:t>
            </a:r>
            <a:r>
              <a:rPr dirty="0">
                <a:solidFill>
                  <a:srgbClr val="FFC000"/>
                </a:solidFill>
              </a:rPr>
              <a:t>an Event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8DF22C-BE77-875F-E224-D463FDD35A7A}"/>
              </a:ext>
            </a:extLst>
          </p:cNvPr>
          <p:cNvSpPr txBox="1"/>
          <p:nvPr/>
        </p:nvSpPr>
        <p:spPr>
          <a:xfrm>
            <a:off x="1086890" y="2674024"/>
            <a:ext cx="6962233" cy="919401"/>
          </a:xfrm>
          <a:prstGeom prst="roundRect">
            <a:avLst/>
          </a:prstGeom>
          <a:noFill/>
          <a:ln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49916F"/>
                </a:solidFill>
              </a:rPr>
              <a:t>// Event which will be raised anytime the current album information is updated.</a:t>
            </a:r>
          </a:p>
          <a:p>
            <a:r>
              <a:rPr lang="en-US">
                <a:solidFill>
                  <a:srgbClr val="0070C0"/>
                </a:solidFill>
              </a:rPr>
              <a:t>    </a:t>
            </a:r>
            <a:r>
              <a:rPr lang="en-US" sz="1600">
                <a:solidFill>
                  <a:srgbClr val="0070C0"/>
                </a:solidFill>
              </a:rPr>
              <a:t>event </a:t>
            </a:r>
            <a:r>
              <a:rPr lang="en-US" sz="1600"/>
              <a:t>albumEvent(</a:t>
            </a:r>
            <a:r>
              <a:rPr lang="en-US" sz="1600">
                <a:solidFill>
                  <a:srgbClr val="0070C0"/>
                </a:solidFill>
              </a:rPr>
              <a:t>string</a:t>
            </a:r>
            <a:r>
              <a:rPr lang="en-US" sz="1600"/>
              <a:t> albumEvent_Artist, </a:t>
            </a:r>
            <a:r>
              <a:rPr lang="en-US" sz="1600">
                <a:solidFill>
                  <a:srgbClr val="0070C0"/>
                </a:solidFill>
              </a:rPr>
              <a:t>string</a:t>
            </a:r>
            <a:r>
              <a:rPr lang="en-US" sz="1600"/>
              <a:t> albumEvent_Title, </a:t>
            </a:r>
            <a:r>
              <a:rPr lang="en-US" sz="1600">
                <a:solidFill>
                  <a:srgbClr val="0070C0"/>
                </a:solidFill>
              </a:rPr>
              <a:t>uint</a:t>
            </a:r>
            <a:r>
              <a:rPr lang="en-US" sz="1600"/>
              <a:t> albumEvent_Tracks);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379747-9659-C062-9837-8F93E6934252}"/>
              </a:ext>
            </a:extLst>
          </p:cNvPr>
          <p:cNvSpPr txBox="1"/>
          <p:nvPr/>
        </p:nvSpPr>
        <p:spPr>
          <a:xfrm>
            <a:off x="1086889" y="4751938"/>
            <a:ext cx="6962233" cy="817245"/>
          </a:xfrm>
          <a:prstGeom prst="roundRect">
            <a:avLst/>
          </a:prstGeom>
          <a:noFill/>
          <a:ln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49916F"/>
                </a:solidFill>
              </a:rPr>
              <a:t>// Raise the albumEvent to let any event subscribers know the current album information has changed.</a:t>
            </a:r>
          </a:p>
          <a:p>
            <a:r>
              <a:rPr lang="en-US" sz="1400" dirty="0">
                <a:solidFill>
                  <a:srgbClr val="49916F"/>
                </a:solidFill>
              </a:rPr>
              <a:t>        </a:t>
            </a:r>
            <a:r>
              <a:rPr lang="en-US" sz="1400" dirty="0">
                <a:solidFill>
                  <a:srgbClr val="FFC000"/>
                </a:solidFill>
              </a:rPr>
              <a:t>emit</a:t>
            </a:r>
            <a:r>
              <a:rPr lang="en-US" sz="1400" dirty="0">
                <a:solidFill>
                  <a:srgbClr val="49916F"/>
                </a:solidFill>
              </a:rPr>
              <a:t> </a:t>
            </a:r>
            <a:r>
              <a:rPr lang="en-US" sz="1400" dirty="0"/>
              <a:t>albumEvent(_artist, _</a:t>
            </a:r>
            <a:r>
              <a:rPr lang="en-US" sz="1400" dirty="0" err="1"/>
              <a:t>albumTitle</a:t>
            </a:r>
            <a:r>
              <a:rPr lang="en-US" sz="1400" dirty="0"/>
              <a:t>, _tracks);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F0FD6A-4DB4-A514-BC8A-EB6ED94FC9BD}"/>
              </a:ext>
            </a:extLst>
          </p:cNvPr>
          <p:cNvSpPr txBox="1"/>
          <p:nvPr/>
        </p:nvSpPr>
        <p:spPr>
          <a:xfrm>
            <a:off x="314324" y="1580050"/>
            <a:ext cx="82962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u="sng" dirty="0">
                <a:solidFill>
                  <a:schemeClr val="accent1"/>
                </a:solidFill>
              </a:rPr>
              <a:t>Defining an Event </a:t>
            </a:r>
          </a:p>
          <a:p>
            <a:r>
              <a:rPr lang="en-US" dirty="0"/>
              <a:t>Begin by adding the following code to define your new event, albumEvent. Define the event after your local state variables but before your constructor.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253D27-9684-AF31-D435-C3C2B5AF1DEE}"/>
              </a:ext>
            </a:extLst>
          </p:cNvPr>
          <p:cNvSpPr txBox="1"/>
          <p:nvPr/>
        </p:nvSpPr>
        <p:spPr>
          <a:xfrm>
            <a:off x="314324" y="3739304"/>
            <a:ext cx="79914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u="sng" dirty="0">
                <a:solidFill>
                  <a:schemeClr val="accent1"/>
                </a:solidFill>
              </a:rPr>
              <a:t>Raising an Event </a:t>
            </a:r>
          </a:p>
          <a:p>
            <a:r>
              <a:rPr lang="en-US" dirty="0"/>
              <a:t>Add the following code to the </a:t>
            </a:r>
            <a:r>
              <a:rPr lang="en-US" dirty="0" err="1"/>
              <a:t>setAlbum</a:t>
            </a:r>
            <a:r>
              <a:rPr lang="en-US" dirty="0"/>
              <a:t> function. This will raise the event anytime the current album information is changed. </a:t>
            </a: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45BE0FF2-A848-3D83-FC17-1432AD037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7698" y="5648098"/>
            <a:ext cx="1226634" cy="74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Ευθεία γραμμή σύνδεσης 15">
            <a:extLst>
              <a:ext uri="{FF2B5EF4-FFF2-40B4-BE49-F238E27FC236}">
                <a16:creationId xmlns:a16="http://schemas.microsoft.com/office/drawing/2014/main" id="{B11D3652-43A1-FB3A-1C10-55D0212E309D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512956" y="6023036"/>
            <a:ext cx="7084742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C000"/>
                </a:solidFill>
              </a:rPr>
              <a:t>Adding Access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be adding function modifier to our SC which will only allow the contract's owner to update the </a:t>
            </a:r>
            <a:r>
              <a:rPr lang="en-US" dirty="0" err="1"/>
              <a:t>currrent</a:t>
            </a:r>
            <a:r>
              <a:rPr lang="en-US" dirty="0"/>
              <a:t> album information.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8F181C-5669-B562-0458-BAA03DAAF46F}"/>
              </a:ext>
            </a:extLst>
          </p:cNvPr>
          <p:cNvSpPr txBox="1"/>
          <p:nvPr/>
        </p:nvSpPr>
        <p:spPr>
          <a:xfrm>
            <a:off x="542924" y="2838495"/>
            <a:ext cx="83343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To start, we'll need a variable to store the account number of the contract's owner. Declare a new variable, owner, using the address data type using the code below.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D337B7-032F-F9EB-22E8-376BA77AFB6F}"/>
              </a:ext>
            </a:extLst>
          </p:cNvPr>
          <p:cNvSpPr txBox="1"/>
          <p:nvPr/>
        </p:nvSpPr>
        <p:spPr>
          <a:xfrm>
            <a:off x="1458093" y="3914225"/>
            <a:ext cx="6504035" cy="646986"/>
          </a:xfrm>
          <a:prstGeom prst="roundRect">
            <a:avLst/>
          </a:prstGeom>
          <a:noFill/>
          <a:ln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49916F"/>
                </a:solidFill>
              </a:rPr>
              <a:t>// </a:t>
            </a:r>
            <a:r>
              <a:rPr lang="en-US" sz="1600" i="1" dirty="0">
                <a:solidFill>
                  <a:srgbClr val="49916F"/>
                </a:solidFill>
              </a:rPr>
              <a:t>The owner of the current instance of this smart contract</a:t>
            </a:r>
          </a:p>
          <a:p>
            <a:r>
              <a:rPr lang="en-US" sz="1600" dirty="0">
                <a:solidFill>
                  <a:srgbClr val="00B0F0"/>
                </a:solidFill>
              </a:rPr>
              <a:t>    address </a:t>
            </a:r>
            <a:r>
              <a:rPr lang="en-US" sz="1600" dirty="0"/>
              <a:t>owner;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633894-3867-F325-FBD7-5416C9776B76}"/>
              </a:ext>
            </a:extLst>
          </p:cNvPr>
          <p:cNvSpPr txBox="1"/>
          <p:nvPr/>
        </p:nvSpPr>
        <p:spPr>
          <a:xfrm>
            <a:off x="1458092" y="4990610"/>
            <a:ext cx="6504036" cy="919401"/>
          </a:xfrm>
          <a:prstGeom prst="roundRect">
            <a:avLst/>
          </a:prstGeom>
          <a:noFill/>
          <a:ln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49916F"/>
                </a:solidFill>
              </a:rPr>
              <a:t>// </a:t>
            </a:r>
            <a:r>
              <a:rPr lang="en-US" sz="1600" i="1" dirty="0">
                <a:solidFill>
                  <a:srgbClr val="49916F"/>
                </a:solidFill>
              </a:rPr>
              <a:t>Set the owner property of this contract instance to the constructor of this contract deployment</a:t>
            </a:r>
          </a:p>
          <a:p>
            <a:r>
              <a:rPr lang="en-US" sz="1600" dirty="0">
                <a:solidFill>
                  <a:srgbClr val="FFC000"/>
                </a:solidFill>
              </a:rPr>
              <a:t>        </a:t>
            </a:r>
            <a:r>
              <a:rPr lang="en-US" sz="1600" dirty="0"/>
              <a:t>owner</a:t>
            </a:r>
            <a:r>
              <a:rPr lang="en-US" sz="1600" dirty="0">
                <a:solidFill>
                  <a:srgbClr val="FFC000"/>
                </a:solidFill>
              </a:rPr>
              <a:t> </a:t>
            </a:r>
            <a:r>
              <a:rPr lang="en-US" sz="1600" dirty="0"/>
              <a:t>= </a:t>
            </a:r>
            <a:r>
              <a:rPr lang="en-US" sz="1600" dirty="0" err="1">
                <a:solidFill>
                  <a:srgbClr val="FFC000"/>
                </a:solidFill>
              </a:rPr>
              <a:t>msg.sender</a:t>
            </a:r>
            <a:r>
              <a:rPr lang="en-US" sz="1600" dirty="0"/>
              <a:t>;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DE68875D-1822-E214-0DF8-F27E37BEA5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7698" y="5648098"/>
            <a:ext cx="1226634" cy="74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Ευθεία γραμμή σύνδεσης 10">
            <a:extLst>
              <a:ext uri="{FF2B5EF4-FFF2-40B4-BE49-F238E27FC236}">
                <a16:creationId xmlns:a16="http://schemas.microsoft.com/office/drawing/2014/main" id="{0E31D109-7E1B-A0EA-220D-029C591548CD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512956" y="6023036"/>
            <a:ext cx="7084742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Modifier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CB58F6-2F8A-483E-2347-56AC5AD6DDE8}"/>
              </a:ext>
            </a:extLst>
          </p:cNvPr>
          <p:cNvSpPr txBox="1"/>
          <p:nvPr/>
        </p:nvSpPr>
        <p:spPr>
          <a:xfrm>
            <a:off x="1162504" y="1580050"/>
            <a:ext cx="7296150" cy="3098721"/>
          </a:xfrm>
          <a:prstGeom prst="roundRect">
            <a:avLst/>
          </a:prstGeom>
          <a:noFill/>
          <a:ln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rgbClr val="49916F"/>
                </a:solidFill>
              </a:rPr>
              <a:t>// This function modifier ensures that the initiator of any transaction </a:t>
            </a:r>
          </a:p>
          <a:p>
            <a:r>
              <a:rPr lang="en-US" sz="1600" i="1" dirty="0">
                <a:solidFill>
                  <a:srgbClr val="49916F"/>
                </a:solidFill>
              </a:rPr>
              <a:t>    //   it is attached to matches the address of the contract's owner.</a:t>
            </a:r>
          </a:p>
          <a:p>
            <a:r>
              <a:rPr lang="en-US" sz="1600" i="1" dirty="0">
                <a:solidFill>
                  <a:srgbClr val="49916F"/>
                </a:solidFill>
              </a:rPr>
              <a:t>    // Use this function modifier for functions that should only</a:t>
            </a:r>
          </a:p>
          <a:p>
            <a:r>
              <a:rPr lang="en-US" sz="1600" i="1" dirty="0">
                <a:solidFill>
                  <a:srgbClr val="49916F"/>
                </a:solidFill>
              </a:rPr>
              <a:t>    //   be performed by the owner of this contract instance.</a:t>
            </a:r>
          </a:p>
          <a:p>
            <a:r>
              <a:rPr lang="en-US" sz="1600" dirty="0"/>
              <a:t>    </a:t>
            </a:r>
            <a:r>
              <a:rPr lang="en-US" sz="1600" dirty="0">
                <a:solidFill>
                  <a:srgbClr val="00B0F0"/>
                </a:solidFill>
              </a:rPr>
              <a:t>modifier </a:t>
            </a:r>
            <a:r>
              <a:rPr lang="en-US" sz="1600" dirty="0" err="1"/>
              <a:t>onlyOwner</a:t>
            </a:r>
            <a:r>
              <a:rPr lang="en-US" sz="1600" dirty="0"/>
              <a:t> {</a:t>
            </a:r>
          </a:p>
          <a:p>
            <a:r>
              <a:rPr lang="en-US" sz="1600" dirty="0">
                <a:solidFill>
                  <a:schemeClr val="accent1"/>
                </a:solidFill>
              </a:rPr>
              <a:t>        if </a:t>
            </a:r>
            <a:r>
              <a:rPr lang="en-US" sz="1600" dirty="0"/>
              <a:t>(</a:t>
            </a:r>
            <a:r>
              <a:rPr lang="en-US" sz="1600" dirty="0">
                <a:solidFill>
                  <a:srgbClr val="FFC000"/>
                </a:solidFill>
              </a:rPr>
              <a:t>msg.sender </a:t>
            </a:r>
            <a:r>
              <a:rPr lang="en-US" sz="1600" dirty="0"/>
              <a:t>!= owner) {</a:t>
            </a:r>
          </a:p>
          <a:p>
            <a:r>
              <a:rPr lang="en-US" sz="1600" dirty="0"/>
              <a:t>            </a:t>
            </a:r>
            <a:r>
              <a:rPr lang="en-US" sz="1600" i="1" dirty="0">
                <a:solidFill>
                  <a:srgbClr val="49916F"/>
                </a:solidFill>
              </a:rPr>
              <a:t>// The initiator of this transaction is NOT the contract instance's owner!</a:t>
            </a:r>
          </a:p>
          <a:p>
            <a:r>
              <a:rPr lang="en-US" sz="1600" dirty="0"/>
              <a:t>        } </a:t>
            </a:r>
            <a:r>
              <a:rPr lang="en-US" sz="1600" dirty="0">
                <a:solidFill>
                  <a:schemeClr val="accent1"/>
                </a:solidFill>
              </a:rPr>
              <a:t>else</a:t>
            </a:r>
            <a:r>
              <a:rPr lang="en-US" sz="1600" dirty="0"/>
              <a:t> {</a:t>
            </a:r>
          </a:p>
          <a:p>
            <a:r>
              <a:rPr lang="en-US" sz="1600" dirty="0"/>
              <a:t>            _;</a:t>
            </a:r>
          </a:p>
          <a:p>
            <a:r>
              <a:rPr lang="en-US" sz="1600" dirty="0"/>
              <a:t>        } </a:t>
            </a:r>
            <a:r>
              <a:rPr lang="en-US" sz="1600" i="1" dirty="0">
                <a:solidFill>
                  <a:srgbClr val="49916F"/>
                </a:solidFill>
              </a:rPr>
              <a:t>// else</a:t>
            </a:r>
          </a:p>
          <a:p>
            <a:r>
              <a:rPr lang="en-US" sz="1600" dirty="0"/>
              <a:t>    } </a:t>
            </a:r>
            <a:r>
              <a:rPr lang="en-US" sz="1600" i="1" dirty="0">
                <a:solidFill>
                  <a:srgbClr val="49916F"/>
                </a:solidFill>
              </a:rPr>
              <a:t>// modifier </a:t>
            </a:r>
            <a:r>
              <a:rPr lang="en-US" sz="1600" i="1" dirty="0" err="1">
                <a:solidFill>
                  <a:srgbClr val="49916F"/>
                </a:solidFill>
              </a:rPr>
              <a:t>onlyOwner</a:t>
            </a:r>
            <a:endParaRPr lang="en-US" sz="1600" i="1" dirty="0">
              <a:solidFill>
                <a:srgbClr val="49916F"/>
              </a:solidFill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C0433A34-C73B-A41B-3C7C-FA2372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7698" y="5648098"/>
            <a:ext cx="1226634" cy="74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Ευθεία γραμμή σύνδεσης 8">
            <a:extLst>
              <a:ext uri="{FF2B5EF4-FFF2-40B4-BE49-F238E27FC236}">
                <a16:creationId xmlns:a16="http://schemas.microsoft.com/office/drawing/2014/main" id="{789B3D82-E791-5B50-98E8-A4920AB80982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512956" y="6023036"/>
            <a:ext cx="7084742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Εικόνα 10">
            <a:extLst>
              <a:ext uri="{FF2B5EF4-FFF2-40B4-BE49-F238E27FC236}">
                <a16:creationId xmlns:a16="http://schemas.microsoft.com/office/drawing/2014/main" id="{F06FC9FF-7454-A80C-3695-E4F47BE493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5550" y="4846078"/>
            <a:ext cx="4457700" cy="10096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D13B4-ECB1-6730-BF1F-B6C378A97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255FE-EB0D-730F-51E1-57FBE0754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C000"/>
                </a:solidFill>
              </a:rPr>
              <a:t>Connecting the digital wallet MetaMask</a:t>
            </a:r>
            <a:endParaRPr dirty="0">
              <a:solidFill>
                <a:srgbClr val="FFC000"/>
              </a:solidFill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8D68E1A2-7A55-3063-6AFD-007794D2A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7698" y="5648098"/>
            <a:ext cx="1226634" cy="74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Ευθεία γραμμή σύνδεσης 7">
            <a:extLst>
              <a:ext uri="{FF2B5EF4-FFF2-40B4-BE49-F238E27FC236}">
                <a16:creationId xmlns:a16="http://schemas.microsoft.com/office/drawing/2014/main" id="{240CC3FA-79F5-0ECA-B38C-C87E54F36A8F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512956" y="6023036"/>
            <a:ext cx="7084742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Εικόνα 5">
            <a:extLst>
              <a:ext uri="{FF2B5EF4-FFF2-40B4-BE49-F238E27FC236}">
                <a16:creationId xmlns:a16="http://schemas.microsoft.com/office/drawing/2014/main" id="{56ED2992-7977-6EAE-4D7C-01A8164226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5706" y="774124"/>
            <a:ext cx="430618" cy="39891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CFEA2FA-5761-6751-9A82-A4D9E4B369B9}"/>
              </a:ext>
            </a:extLst>
          </p:cNvPr>
          <p:cNvSpPr txBox="1"/>
          <p:nvPr/>
        </p:nvSpPr>
        <p:spPr>
          <a:xfrm>
            <a:off x="2282007" y="1735449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Begin by opening a browser and navigate to: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hlinkClick r:id="rId5"/>
              </a:rPr>
              <a:t>https://metamask.io/download</a:t>
            </a:r>
            <a:r>
              <a:rPr lang="en-US" dirty="0"/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022B96D-F3DD-C600-6092-05836D53DA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5557" y="3445927"/>
            <a:ext cx="2244900" cy="22021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9682D6E-5243-5E92-7BAF-C3FE1FCB7F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5558" y="2716244"/>
            <a:ext cx="787800" cy="72968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09C62A9-B21F-9952-5AD6-D2E80C66AB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2656" y="2716244"/>
            <a:ext cx="787800" cy="72968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213464B-F442-C101-D727-552C60560D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74107" y="2716244"/>
            <a:ext cx="787800" cy="729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315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0F1CC-0746-B518-89BF-BE79860C7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B2535-8AC2-2BFC-1C34-2B83DB1C3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C000"/>
                </a:solidFill>
              </a:rPr>
              <a:t>Installing and Setting up MetaMask</a:t>
            </a:r>
            <a:endParaRPr dirty="0">
              <a:solidFill>
                <a:srgbClr val="FFC000"/>
              </a:solidFill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EF2A4872-F303-2AA9-9B04-B973EE7487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7698" y="5648098"/>
            <a:ext cx="1226634" cy="74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Ευθεία γραμμή σύνδεσης 7">
            <a:extLst>
              <a:ext uri="{FF2B5EF4-FFF2-40B4-BE49-F238E27FC236}">
                <a16:creationId xmlns:a16="http://schemas.microsoft.com/office/drawing/2014/main" id="{7313F41A-6B50-B2D7-49FA-7DCA5BEDD277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512956" y="6023036"/>
            <a:ext cx="7084742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Εικόνα 5">
            <a:extLst>
              <a:ext uri="{FF2B5EF4-FFF2-40B4-BE49-F238E27FC236}">
                <a16:creationId xmlns:a16="http://schemas.microsoft.com/office/drawing/2014/main" id="{40D04A62-FA5E-B1A4-494A-1543DDD69F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5706" y="774124"/>
            <a:ext cx="430618" cy="39891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363E38E-4665-559E-9E74-9FAF0DDA3325}"/>
              </a:ext>
            </a:extLst>
          </p:cNvPr>
          <p:cNvSpPr txBox="1"/>
          <p:nvPr/>
        </p:nvSpPr>
        <p:spPr>
          <a:xfrm>
            <a:off x="896282" y="1368230"/>
            <a:ext cx="404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1. </a:t>
            </a:r>
          </a:p>
        </p:txBody>
      </p:sp>
      <p:pic>
        <p:nvPicPr>
          <p:cNvPr id="12" name="Picture 11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555C1CD5-7A1C-42E4-B180-7565202139D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8348"/>
          <a:stretch>
            <a:fillRect/>
          </a:stretch>
        </p:blipFill>
        <p:spPr>
          <a:xfrm>
            <a:off x="1035050" y="1684894"/>
            <a:ext cx="2048933" cy="87036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51A46AF-4B55-7F0A-D8E9-B30AA0479822}"/>
              </a:ext>
            </a:extLst>
          </p:cNvPr>
          <p:cNvSpPr txBox="1"/>
          <p:nvPr/>
        </p:nvSpPr>
        <p:spPr>
          <a:xfrm>
            <a:off x="5091612" y="1888604"/>
            <a:ext cx="31561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2. Confirm the installation by selecting “Add extension.”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C105AC-11B6-3F2A-FDE5-6E191BC3C2FD}"/>
              </a:ext>
            </a:extLst>
          </p:cNvPr>
          <p:cNvSpPr txBox="1"/>
          <p:nvPr/>
        </p:nvSpPr>
        <p:spPr>
          <a:xfrm>
            <a:off x="2455441" y="2555257"/>
            <a:ext cx="26361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</a:t>
            </a:r>
            <a:r>
              <a:rPr lang="en-US" dirty="0">
                <a:solidFill>
                  <a:schemeClr val="tx1"/>
                </a:solidFill>
              </a:rPr>
              <a:t>.</a:t>
            </a:r>
            <a:r>
              <a:rPr lang="en-US" dirty="0"/>
              <a:t> Select “Create a new wallet.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8" name="Picture 17" descr="A screenshot of a computer error&#10;&#10;AI-generated content may be incorrect.">
            <a:extLst>
              <a:ext uri="{FF2B5EF4-FFF2-40B4-BE49-F238E27FC236}">
                <a16:creationId xmlns:a16="http://schemas.microsoft.com/office/drawing/2014/main" id="{725F0F22-7B35-6D6D-4B25-627A10B982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0157" y="2489317"/>
            <a:ext cx="2845549" cy="1623950"/>
          </a:xfrm>
          <a:prstGeom prst="rect">
            <a:avLst/>
          </a:prstGeom>
        </p:spPr>
      </p:pic>
      <p:pic>
        <p:nvPicPr>
          <p:cNvPr id="20" name="Picture 19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20B51860-3041-CE3C-0920-1B0C789D40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73223" y="3155607"/>
            <a:ext cx="2120458" cy="2848432"/>
          </a:xfrm>
          <a:prstGeom prst="rect">
            <a:avLst/>
          </a:prstGeom>
        </p:spPr>
      </p:pic>
      <p:pic>
        <p:nvPicPr>
          <p:cNvPr id="23" name="Picture 22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25847AF2-A52C-91D2-19DD-EA8AE4DC640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6437"/>
          <a:stretch>
            <a:fillRect/>
          </a:stretch>
        </p:blipFill>
        <p:spPr>
          <a:xfrm>
            <a:off x="3042679" y="1684491"/>
            <a:ext cx="1651001" cy="87036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6106781-9F7B-0B0B-20EB-BE8932A1B4F6}"/>
              </a:ext>
            </a:extLst>
          </p:cNvPr>
          <p:cNvSpPr txBox="1"/>
          <p:nvPr/>
        </p:nvSpPr>
        <p:spPr>
          <a:xfrm>
            <a:off x="1236386" y="1335642"/>
            <a:ext cx="70113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Click “Add to Chrome” to install the MetaMask browser extension.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3B64DE8-BD70-1E8F-C9DC-DBE2CAF2E4FF}"/>
              </a:ext>
            </a:extLst>
          </p:cNvPr>
          <p:cNvCxnSpPr/>
          <p:nvPr/>
        </p:nvCxnSpPr>
        <p:spPr>
          <a:xfrm flipH="1">
            <a:off x="7120467" y="3155607"/>
            <a:ext cx="194733" cy="4511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C662D4F-C80A-7335-B167-3AB494E6E1B8}"/>
              </a:ext>
            </a:extLst>
          </p:cNvPr>
          <p:cNvCxnSpPr/>
          <p:nvPr/>
        </p:nvCxnSpPr>
        <p:spPr>
          <a:xfrm flipH="1">
            <a:off x="4207933" y="4622800"/>
            <a:ext cx="203200" cy="60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8783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705AC-6496-F864-80DF-8A3A16D11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D6DA4-1F42-896C-D277-3B7530A5B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668" y="609600"/>
            <a:ext cx="7492999" cy="9704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C000"/>
                </a:solidFill>
              </a:rPr>
              <a:t>Connecting MetaMask to Remix IDE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C87DF620-8812-B77B-F0A0-1AA68C5A94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7698" y="5648098"/>
            <a:ext cx="1226634" cy="74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Ευθεία γραμμή σύνδεσης 7">
            <a:extLst>
              <a:ext uri="{FF2B5EF4-FFF2-40B4-BE49-F238E27FC236}">
                <a16:creationId xmlns:a16="http://schemas.microsoft.com/office/drawing/2014/main" id="{D76FF6CE-63C4-3573-FA8D-A818CE85D404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512956" y="6023036"/>
            <a:ext cx="7084742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Εικόνα 5">
            <a:extLst>
              <a:ext uri="{FF2B5EF4-FFF2-40B4-BE49-F238E27FC236}">
                <a16:creationId xmlns:a16="http://schemas.microsoft.com/office/drawing/2014/main" id="{6EB5EA8A-961C-D979-2410-966A35FB59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5706" y="774124"/>
            <a:ext cx="430618" cy="39891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2A61049-0098-3C60-2388-C36BD2CF7F48}"/>
              </a:ext>
            </a:extLst>
          </p:cNvPr>
          <p:cNvSpPr txBox="1"/>
          <p:nvPr/>
        </p:nvSpPr>
        <p:spPr>
          <a:xfrm>
            <a:off x="935021" y="1619160"/>
            <a:ext cx="71506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1. Open Remix and navigate to the Deploy &amp; Run Transactions panel.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2ADAA36-E9E5-C206-8A73-66785CAAAB9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4997"/>
          <a:stretch>
            <a:fillRect/>
          </a:stretch>
        </p:blipFill>
        <p:spPr>
          <a:xfrm>
            <a:off x="1018116" y="2027600"/>
            <a:ext cx="2202905" cy="1875146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6C21DDA-FE43-15BD-B4E0-B481523C191F}"/>
              </a:ext>
            </a:extLst>
          </p:cNvPr>
          <p:cNvCxnSpPr>
            <a:cxnSpLocks/>
          </p:cNvCxnSpPr>
          <p:nvPr/>
        </p:nvCxnSpPr>
        <p:spPr>
          <a:xfrm flipH="1">
            <a:off x="1303866" y="2624666"/>
            <a:ext cx="160867" cy="6773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BDE9DA4-E3FA-B210-5D0A-8BC4BF74D5D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" b="55684"/>
          <a:stretch>
            <a:fillRect/>
          </a:stretch>
        </p:blipFill>
        <p:spPr>
          <a:xfrm>
            <a:off x="4572000" y="3587470"/>
            <a:ext cx="2701297" cy="187514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8B20C4F-450D-F9B0-36B9-2EB373C61C09}"/>
              </a:ext>
            </a:extLst>
          </p:cNvPr>
          <p:cNvSpPr txBox="1"/>
          <p:nvPr/>
        </p:nvSpPr>
        <p:spPr>
          <a:xfrm>
            <a:off x="4488905" y="2624666"/>
            <a:ext cx="3004095" cy="923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</a:t>
            </a:r>
            <a:r>
              <a:rPr lang="en-US" dirty="0">
                <a:solidFill>
                  <a:schemeClr val="tx1"/>
                </a:solidFill>
              </a:rPr>
              <a:t>. Choose Injected Provider MetaMask or </a:t>
            </a:r>
            <a:r>
              <a:rPr lang="en-US" dirty="0" err="1">
                <a:solidFill>
                  <a:schemeClr val="tx1"/>
                </a:solidFill>
              </a:rPr>
              <a:t>WalletConnect</a:t>
            </a:r>
            <a:r>
              <a:rPr lang="en-US" dirty="0">
                <a:solidFill>
                  <a:schemeClr val="tx1"/>
                </a:solidFill>
              </a:rPr>
              <a:t> from the list.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9574E45-80B2-3563-1500-DE4F9A3D8FF5}"/>
              </a:ext>
            </a:extLst>
          </p:cNvPr>
          <p:cNvCxnSpPr/>
          <p:nvPr/>
        </p:nvCxnSpPr>
        <p:spPr>
          <a:xfrm flipH="1">
            <a:off x="6239932" y="4507085"/>
            <a:ext cx="143934" cy="7620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56323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1CF27-095F-C91F-41C0-4F35EDF37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3024D-2FE5-1879-834C-DBC48A315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668" y="609600"/>
            <a:ext cx="7492999" cy="9704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C000"/>
                </a:solidFill>
              </a:rPr>
              <a:t>Signing Transactions with MetaMask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391909AF-8D95-CD3F-C91D-5C14BBCE3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7698" y="5648098"/>
            <a:ext cx="1226634" cy="74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Ευθεία γραμμή σύνδεσης 7">
            <a:extLst>
              <a:ext uri="{FF2B5EF4-FFF2-40B4-BE49-F238E27FC236}">
                <a16:creationId xmlns:a16="http://schemas.microsoft.com/office/drawing/2014/main" id="{979D5D3C-E56D-C895-1FC5-FBD8FA1981E1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512956" y="6023036"/>
            <a:ext cx="7084742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Εικόνα 5">
            <a:extLst>
              <a:ext uri="{FF2B5EF4-FFF2-40B4-BE49-F238E27FC236}">
                <a16:creationId xmlns:a16="http://schemas.microsoft.com/office/drawing/2014/main" id="{F9C9552E-E968-55D0-589C-7F198B9391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5706" y="774124"/>
            <a:ext cx="430618" cy="39891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EB74ED1-9FE0-7EFB-1590-78ECE5522F17}"/>
              </a:ext>
            </a:extLst>
          </p:cNvPr>
          <p:cNvSpPr txBox="1"/>
          <p:nvPr/>
        </p:nvSpPr>
        <p:spPr>
          <a:xfrm>
            <a:off x="615353" y="1547978"/>
            <a:ext cx="82089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Confirm the wallet connection request that appears from remix.ethereum.org. Click Connect to authorize Remix to use your MetaMask account.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7DCE630-67DE-A33E-42E7-79805D156A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5892" y="2335467"/>
            <a:ext cx="4787900" cy="354641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E00FA71-5508-F396-5613-ECEF48561A12}"/>
              </a:ext>
            </a:extLst>
          </p:cNvPr>
          <p:cNvCxnSpPr/>
          <p:nvPr/>
        </p:nvCxnSpPr>
        <p:spPr>
          <a:xfrm>
            <a:off x="6223000" y="4581888"/>
            <a:ext cx="304800" cy="7281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5704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9AB89-D0A7-1374-019F-9EB9B429B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F4AF1-C214-C2EA-F8D2-E8197FBF9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668" y="609600"/>
            <a:ext cx="7492999" cy="9704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C000"/>
                </a:solidFill>
              </a:rPr>
              <a:t>Confirming MetaMask Connection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7A14BBB0-61BC-52F6-1FE7-25BAE1737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7698" y="5648098"/>
            <a:ext cx="1226634" cy="74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Ευθεία γραμμή σύνδεσης 7">
            <a:extLst>
              <a:ext uri="{FF2B5EF4-FFF2-40B4-BE49-F238E27FC236}">
                <a16:creationId xmlns:a16="http://schemas.microsoft.com/office/drawing/2014/main" id="{34A85646-21BD-55F3-CF57-81E45FDD03A0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512956" y="6023036"/>
            <a:ext cx="7084742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Εικόνα 5">
            <a:extLst>
              <a:ext uri="{FF2B5EF4-FFF2-40B4-BE49-F238E27FC236}">
                <a16:creationId xmlns:a16="http://schemas.microsoft.com/office/drawing/2014/main" id="{DFB4B86D-189C-40CF-FC6C-1DF1CBB36D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5706" y="774124"/>
            <a:ext cx="430618" cy="39891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10FDCC3-CAA7-98BD-BDFB-A43BD957D666}"/>
              </a:ext>
            </a:extLst>
          </p:cNvPr>
          <p:cNvSpPr txBox="1"/>
          <p:nvPr/>
        </p:nvSpPr>
        <p:spPr>
          <a:xfrm>
            <a:off x="923518" y="2250186"/>
            <a:ext cx="4453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Check your MetaMask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account address.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D86D63-082C-8DC9-653E-20C5AFFDB5F3}"/>
              </a:ext>
            </a:extLst>
          </p:cNvPr>
          <p:cNvSpPr txBox="1"/>
          <p:nvPr/>
        </p:nvSpPr>
        <p:spPr>
          <a:xfrm>
            <a:off x="4859412" y="2250186"/>
            <a:ext cx="28302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2. Verify the same address in Remix.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ED1D634-C238-FE78-71C4-485B510ADA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18" y="3132386"/>
            <a:ext cx="3131809" cy="1587959"/>
          </a:xfrm>
          <a:prstGeom prst="rect">
            <a:avLst/>
          </a:prstGeom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2B3818A-2C99-B1B3-A407-1CBC1A3D144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52326"/>
          <a:stretch>
            <a:fillRect/>
          </a:stretch>
        </p:blipFill>
        <p:spPr>
          <a:xfrm>
            <a:off x="4817418" y="3132386"/>
            <a:ext cx="2780280" cy="23984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103C17E-A913-1CE4-6CE9-BAC60B31518B}"/>
              </a:ext>
            </a:extLst>
          </p:cNvPr>
          <p:cNvSpPr/>
          <p:nvPr/>
        </p:nvSpPr>
        <p:spPr>
          <a:xfrm>
            <a:off x="992777" y="4206240"/>
            <a:ext cx="2995749" cy="4093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A0FE48-F7FF-E95F-3E53-3B584D800C3E}"/>
              </a:ext>
            </a:extLst>
          </p:cNvPr>
          <p:cNvSpPr/>
          <p:nvPr/>
        </p:nvSpPr>
        <p:spPr>
          <a:xfrm>
            <a:off x="5376554" y="4574855"/>
            <a:ext cx="2095400" cy="5312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9301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44B4A-AED8-F38A-40A2-1B16821EB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00D70-B9F3-2915-DD0D-38A7CD2B8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668" y="609600"/>
            <a:ext cx="7492999" cy="9704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C000"/>
                </a:solidFill>
              </a:rPr>
              <a:t>Installing Node.js and Web3.js on Windows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669E5ECF-F7BB-3AF4-758B-F9F5876D04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7698" y="5648098"/>
            <a:ext cx="1226634" cy="74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Ευθεία γραμμή σύνδεσης 7">
            <a:extLst>
              <a:ext uri="{FF2B5EF4-FFF2-40B4-BE49-F238E27FC236}">
                <a16:creationId xmlns:a16="http://schemas.microsoft.com/office/drawing/2014/main" id="{A15BFB06-E5C7-D968-9D4B-53454B2239A5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512956" y="6023036"/>
            <a:ext cx="7084742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Εικόνα 5">
            <a:extLst>
              <a:ext uri="{FF2B5EF4-FFF2-40B4-BE49-F238E27FC236}">
                <a16:creationId xmlns:a16="http://schemas.microsoft.com/office/drawing/2014/main" id="{2235BB1D-33B9-EFEB-5EA2-3F55922DC1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5706" y="774124"/>
            <a:ext cx="430618" cy="39891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6233812-6F5B-AB7F-FFA4-24882DD494C0}"/>
              </a:ext>
            </a:extLst>
          </p:cNvPr>
          <p:cNvSpPr txBox="1"/>
          <p:nvPr/>
        </p:nvSpPr>
        <p:spPr>
          <a:xfrm>
            <a:off x="470467" y="1926903"/>
            <a:ext cx="82030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 </a:t>
            </a:r>
            <a:r>
              <a:rPr lang="en-US" dirty="0">
                <a:solidFill>
                  <a:schemeClr val="tx1"/>
                </a:solidFill>
              </a:rPr>
              <a:t>Right-click on the Start Menu → Windows PowerShell → Run as Administrator.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4A3F9C-59FB-92E0-4B0B-1A8C0633282F}"/>
              </a:ext>
            </a:extLst>
          </p:cNvPr>
          <p:cNvSpPr txBox="1"/>
          <p:nvPr/>
        </p:nvSpPr>
        <p:spPr>
          <a:xfrm>
            <a:off x="1908247" y="2395920"/>
            <a:ext cx="53275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2. Install Node.js and </a:t>
            </a:r>
            <a:r>
              <a:rPr lang="en-US" dirty="0" err="1">
                <a:solidFill>
                  <a:schemeClr val="tx1"/>
                </a:solidFill>
              </a:rPr>
              <a:t>npm</a:t>
            </a:r>
            <a:r>
              <a:rPr lang="en-US" dirty="0">
                <a:solidFill>
                  <a:schemeClr val="tx1"/>
                </a:solidFill>
              </a:rPr>
              <a:t> (Node Package Manager)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52ADF3-B068-F55E-2266-951DC43200A3}"/>
              </a:ext>
            </a:extLst>
          </p:cNvPr>
          <p:cNvSpPr txBox="1"/>
          <p:nvPr/>
        </p:nvSpPr>
        <p:spPr>
          <a:xfrm>
            <a:off x="2343016" y="3333955"/>
            <a:ext cx="39445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3. Check Node.js and </a:t>
            </a:r>
            <a:r>
              <a:rPr lang="en-US" dirty="0" err="1">
                <a:solidFill>
                  <a:schemeClr val="tx1"/>
                </a:solidFill>
              </a:rPr>
              <a:t>npm</a:t>
            </a:r>
            <a:r>
              <a:rPr lang="en-US" dirty="0">
                <a:solidFill>
                  <a:schemeClr val="tx1"/>
                </a:solidFill>
              </a:rPr>
              <a:t> installation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01FB35-49D0-4AF3-350F-BA28E619F996}"/>
              </a:ext>
            </a:extLst>
          </p:cNvPr>
          <p:cNvSpPr txBox="1"/>
          <p:nvPr/>
        </p:nvSpPr>
        <p:spPr>
          <a:xfrm>
            <a:off x="3038167" y="4732660"/>
            <a:ext cx="2683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4. Install Web3.js library: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ABC1298-1370-6A7F-DDF8-F15847D854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4286" y="2868491"/>
            <a:ext cx="2683264" cy="46546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0D59798-8927-86E7-33CB-953E09D4CE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2440" y="3804558"/>
            <a:ext cx="1446956" cy="82683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171FDCE-F3C3-2A09-D835-22EE3ADCE2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38167" y="5203263"/>
            <a:ext cx="2683364" cy="444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1391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Connecting the SC with the UI</a:t>
            </a:r>
            <a:endParaRPr dirty="0">
              <a:solidFill>
                <a:srgbClr val="FFC000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5793E0E-6945-BEF0-D806-0BBA7F6E8E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7698" y="5648098"/>
            <a:ext cx="1226634" cy="74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B8A96DC1-8FEC-1C80-7909-2DE6171DD530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512956" y="6023036"/>
            <a:ext cx="7084742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997E2AE-A3E9-5F6F-5D50-0C44B03E6265}"/>
              </a:ext>
            </a:extLst>
          </p:cNvPr>
          <p:cNvSpPr txBox="1"/>
          <p:nvPr/>
        </p:nvSpPr>
        <p:spPr>
          <a:xfrm>
            <a:off x="1195190" y="1474013"/>
            <a:ext cx="4802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the frontend we need an </a:t>
            </a:r>
            <a:r>
              <a:rPr lang="en-US" dirty="0">
                <a:solidFill>
                  <a:schemeClr val="accent1"/>
                </a:solidFill>
              </a:rPr>
              <a:t>html</a:t>
            </a:r>
            <a:r>
              <a:rPr lang="en-US" dirty="0"/>
              <a:t> and a </a:t>
            </a:r>
            <a:r>
              <a:rPr lang="en-US" dirty="0" err="1">
                <a:solidFill>
                  <a:schemeClr val="accent1"/>
                </a:solidFill>
              </a:rPr>
              <a:t>css</a:t>
            </a:r>
            <a:r>
              <a:rPr lang="en-US" dirty="0"/>
              <a:t> file </a:t>
            </a:r>
          </a:p>
        </p:txBody>
      </p:sp>
      <p:pic>
        <p:nvPicPr>
          <p:cNvPr id="7" name="Εικόνα 6">
            <a:extLst>
              <a:ext uri="{FF2B5EF4-FFF2-40B4-BE49-F238E27FC236}">
                <a16:creationId xmlns:a16="http://schemas.microsoft.com/office/drawing/2014/main" id="{99BFD737-A438-D59A-5A93-8A6706F6F3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51" y="2185985"/>
            <a:ext cx="1996131" cy="33128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3313B7-3E36-427B-1CCF-31BE4D31F2CB}"/>
              </a:ext>
            </a:extLst>
          </p:cNvPr>
          <p:cNvSpPr txBox="1"/>
          <p:nvPr/>
        </p:nvSpPr>
        <p:spPr>
          <a:xfrm>
            <a:off x="1253398" y="5492780"/>
            <a:ext cx="1240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index.</a:t>
            </a:r>
            <a:r>
              <a:rPr lang="en-US" dirty="0">
                <a:solidFill>
                  <a:schemeClr val="accent1"/>
                </a:solidFill>
              </a:rPr>
              <a:t>html</a:t>
            </a:r>
            <a:endParaRPr lang="en-US" dirty="0"/>
          </a:p>
        </p:txBody>
      </p:sp>
      <p:sp>
        <p:nvSpPr>
          <p:cNvPr id="9" name="Βέλος: Δεξιό 8">
            <a:extLst>
              <a:ext uri="{FF2B5EF4-FFF2-40B4-BE49-F238E27FC236}">
                <a16:creationId xmlns:a16="http://schemas.microsoft.com/office/drawing/2014/main" id="{EA111641-A119-E90E-8E2A-622FE81F6234}"/>
              </a:ext>
            </a:extLst>
          </p:cNvPr>
          <p:cNvSpPr/>
          <p:nvPr/>
        </p:nvSpPr>
        <p:spPr>
          <a:xfrm>
            <a:off x="3049057" y="2810871"/>
            <a:ext cx="533400" cy="609599"/>
          </a:xfrm>
          <a:prstGeom prst="rightArrow">
            <a:avLst/>
          </a:prstGeom>
          <a:solidFill>
            <a:schemeClr val="tx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Εικόνα 10">
            <a:extLst>
              <a:ext uri="{FF2B5EF4-FFF2-40B4-BE49-F238E27FC236}">
                <a16:creationId xmlns:a16="http://schemas.microsoft.com/office/drawing/2014/main" id="{66940A29-FF05-94D0-85CB-393922DA9E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8233" y="2765748"/>
            <a:ext cx="4563016" cy="609599"/>
          </a:xfrm>
          <a:prstGeom prst="rect">
            <a:avLst/>
          </a:prstGeom>
        </p:spPr>
      </p:pic>
      <p:pic>
        <p:nvPicPr>
          <p:cNvPr id="13" name="Εικόνα 12">
            <a:extLst>
              <a:ext uri="{FF2B5EF4-FFF2-40B4-BE49-F238E27FC236}">
                <a16:creationId xmlns:a16="http://schemas.microsoft.com/office/drawing/2014/main" id="{56B138A8-F6BD-8A19-80B2-FFA4C56ECE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6456" y="4297750"/>
            <a:ext cx="5366570" cy="676896"/>
          </a:xfrm>
          <a:prstGeom prst="rect">
            <a:avLst/>
          </a:prstGeom>
        </p:spPr>
      </p:pic>
      <p:sp>
        <p:nvSpPr>
          <p:cNvPr id="14" name="Βέλος: Δεξιό 13">
            <a:extLst>
              <a:ext uri="{FF2B5EF4-FFF2-40B4-BE49-F238E27FC236}">
                <a16:creationId xmlns:a16="http://schemas.microsoft.com/office/drawing/2014/main" id="{9B9E154A-A7B9-1D67-9A7B-8B1984AA6581}"/>
              </a:ext>
            </a:extLst>
          </p:cNvPr>
          <p:cNvSpPr/>
          <p:nvPr/>
        </p:nvSpPr>
        <p:spPr>
          <a:xfrm>
            <a:off x="2901904" y="4297750"/>
            <a:ext cx="533400" cy="609599"/>
          </a:xfrm>
          <a:prstGeom prst="rightArrow">
            <a:avLst/>
          </a:prstGeom>
          <a:solidFill>
            <a:schemeClr val="tx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Inserting the ABI</a:t>
            </a:r>
            <a:endParaRPr dirty="0">
              <a:solidFill>
                <a:srgbClr val="FFC000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7710CF9-07B3-9F24-AEB6-E12115F5FF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7698" y="5648098"/>
            <a:ext cx="1226634" cy="74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093FEAAA-9D66-12AE-E8B8-8745768E9DF2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512956" y="6023036"/>
            <a:ext cx="7084742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Εικόνα 5">
            <a:extLst>
              <a:ext uri="{FF2B5EF4-FFF2-40B4-BE49-F238E27FC236}">
                <a16:creationId xmlns:a16="http://schemas.microsoft.com/office/drawing/2014/main" id="{48CE77B9-32F8-2405-6035-70963B833B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346" y="1456980"/>
            <a:ext cx="3100716" cy="4378587"/>
          </a:xfrm>
          <a:prstGeom prst="rect">
            <a:avLst/>
          </a:prstGeom>
        </p:spPr>
      </p:pic>
      <p:cxnSp>
        <p:nvCxnSpPr>
          <p:cNvPr id="7" name="Ευθύγραμμο βέλος σύνδεσης 6">
            <a:extLst>
              <a:ext uri="{FF2B5EF4-FFF2-40B4-BE49-F238E27FC236}">
                <a16:creationId xmlns:a16="http://schemas.microsoft.com/office/drawing/2014/main" id="{190A17ED-DF83-D596-36DA-603B4ECBDCCF}"/>
              </a:ext>
            </a:extLst>
          </p:cNvPr>
          <p:cNvCxnSpPr>
            <a:cxnSpLocks/>
          </p:cNvCxnSpPr>
          <p:nvPr/>
        </p:nvCxnSpPr>
        <p:spPr>
          <a:xfrm>
            <a:off x="2386314" y="5648098"/>
            <a:ext cx="32646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Εικόνα 9">
            <a:extLst>
              <a:ext uri="{FF2B5EF4-FFF2-40B4-BE49-F238E27FC236}">
                <a16:creationId xmlns:a16="http://schemas.microsoft.com/office/drawing/2014/main" id="{EA1F2CE2-5BBC-B726-94C6-F477E454B3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7192" y="3564386"/>
            <a:ext cx="4747980" cy="74987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DB13F50-E138-143F-4FC9-393F841B2C8D}"/>
              </a:ext>
            </a:extLst>
          </p:cNvPr>
          <p:cNvSpPr txBox="1"/>
          <p:nvPr/>
        </p:nvSpPr>
        <p:spPr>
          <a:xfrm>
            <a:off x="4731350" y="2006343"/>
            <a:ext cx="3479665" cy="102155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Copy ABI from the compiler tab in Remix and paste it in the </a:t>
            </a:r>
            <a:r>
              <a:rPr lang="en-US" i="1" dirty="0">
                <a:solidFill>
                  <a:schemeClr val="accent1"/>
                </a:solidFill>
              </a:rPr>
              <a:t>index.html </a:t>
            </a:r>
            <a:r>
              <a:rPr lang="en-US" dirty="0">
                <a:solidFill>
                  <a:schemeClr val="tx1"/>
                </a:solidFill>
              </a:rPr>
              <a:t>file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B85EF9-CD69-2FFC-1145-4AB0C00C2BF0}"/>
              </a:ext>
            </a:extLst>
          </p:cNvPr>
          <p:cNvSpPr txBox="1"/>
          <p:nvPr/>
        </p:nvSpPr>
        <p:spPr>
          <a:xfrm>
            <a:off x="4153871" y="4692605"/>
            <a:ext cx="46346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>
                <a:solidFill>
                  <a:srgbClr val="FFFF00"/>
                </a:solidFill>
              </a:rPr>
              <a:t>Keep in mind that every time you recompile the SC you need to adjust the settings in the html file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C000"/>
                </a:solidFill>
              </a:rPr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dirty="0">
                <a:solidFill>
                  <a:schemeClr val="accent1"/>
                </a:solidFill>
              </a:rPr>
              <a:t>Resources:</a:t>
            </a:r>
          </a:p>
          <a:p>
            <a:r>
              <a:rPr dirty="0"/>
              <a:t>Solidity Documentation</a:t>
            </a:r>
          </a:p>
          <a:p>
            <a:r>
              <a:rPr dirty="0"/>
              <a:t>Remix IDE Tutorials</a:t>
            </a:r>
          </a:p>
          <a:p>
            <a:r>
              <a:rPr dirty="0"/>
              <a:t>Ethereum Developer Portal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58F4AA1-7DE7-93ED-8CA2-F5EF20C742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7698" y="5648098"/>
            <a:ext cx="1226634" cy="74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4B355283-AD23-CEA6-5AC3-54934703239B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512956" y="6023036"/>
            <a:ext cx="7084742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Σχιστόλιθος">
  <a:themeElements>
    <a:clrScheme name="Σχιστόλιθος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Σχιστόλιθος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Σχιστόλιθος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TM04033929[[fn=Σχιστόλιθος]]</Template>
  <TotalTime>728</TotalTime>
  <Words>2266</Words>
  <Application>Microsoft Office PowerPoint</Application>
  <PresentationFormat>On-screen Show (4:3)</PresentationFormat>
  <Paragraphs>193</Paragraphs>
  <Slides>32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</vt:lpstr>
      <vt:lpstr>Calibri</vt:lpstr>
      <vt:lpstr>Calisto MT</vt:lpstr>
      <vt:lpstr>Consolas</vt:lpstr>
      <vt:lpstr>Wingdings</vt:lpstr>
      <vt:lpstr>Wingdings 2</vt:lpstr>
      <vt:lpstr>Σχιστόλιθος</vt:lpstr>
      <vt:lpstr>Blockchain Smart Contract Lab</vt:lpstr>
      <vt:lpstr>Quick Overview </vt:lpstr>
      <vt:lpstr>Remix IDE Introduction</vt:lpstr>
      <vt:lpstr>Remix IDE Interface Components</vt:lpstr>
      <vt:lpstr>Remix IDE File Explorer</vt:lpstr>
      <vt:lpstr>Remix IDE Code Editor</vt:lpstr>
      <vt:lpstr>Remix IDE Compiler</vt:lpstr>
      <vt:lpstr>Remix IDE Deploy &amp; Run</vt:lpstr>
      <vt:lpstr>Remix IDE Console</vt:lpstr>
      <vt:lpstr>Developing dApp Use Case: Jukebox</vt:lpstr>
      <vt:lpstr>Writing the First Smart Contract</vt:lpstr>
      <vt:lpstr>Writing the First Smart Contract</vt:lpstr>
      <vt:lpstr>Types of Variables in Solidity</vt:lpstr>
      <vt:lpstr>Visibility Specifiers in Solidity</vt:lpstr>
      <vt:lpstr>Compile &amp; Deploy “Album.sol”</vt:lpstr>
      <vt:lpstr>Compile &amp; Deploy “Album.sol”</vt:lpstr>
      <vt:lpstr>Change variable visibility</vt:lpstr>
      <vt:lpstr>Adding a Constructor</vt:lpstr>
      <vt:lpstr>Adding Getter and Setter Functions</vt:lpstr>
      <vt:lpstr>Recompile and Deploy</vt:lpstr>
      <vt:lpstr>Adding and Raising an Event</vt:lpstr>
      <vt:lpstr>Adding Access Control</vt:lpstr>
      <vt:lpstr>Modifier</vt:lpstr>
      <vt:lpstr>Connecting the digital wallet MetaMask</vt:lpstr>
      <vt:lpstr>Installing and Setting up MetaMask</vt:lpstr>
      <vt:lpstr>Connecting MetaMask to Remix IDE</vt:lpstr>
      <vt:lpstr>Signing Transactions with MetaMask</vt:lpstr>
      <vt:lpstr>Confirming MetaMask Connection</vt:lpstr>
      <vt:lpstr>Installing Node.js and Web3.js on Windows</vt:lpstr>
      <vt:lpstr>Connecting the SC with the UI</vt:lpstr>
      <vt:lpstr>Inserting the ABI</vt:lpstr>
      <vt:lpstr>Resources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Vangelis</dc:creator>
  <cp:keywords/>
  <dc:description>generated using python-pptx</dc:description>
  <cp:lastModifiedBy>Spiros Papagiannopoulos</cp:lastModifiedBy>
  <cp:revision>24</cp:revision>
  <dcterms:created xsi:type="dcterms:W3CDTF">2013-01-27T09:14:16Z</dcterms:created>
  <dcterms:modified xsi:type="dcterms:W3CDTF">2025-11-06T13:34:06Z</dcterms:modified>
  <cp:category/>
</cp:coreProperties>
</file>